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3.png"/><Relationship Id="rId6" Type="http://schemas.openxmlformats.org/officeDocument/2006/relationships/image" Target="../media/image-4-6.png"/><Relationship Id="rId7" Type="http://schemas.openxmlformats.org/officeDocument/2006/relationships/image" Target="../media/image-4-3.png"/><Relationship Id="rId8" Type="http://schemas.openxmlformats.org/officeDocument/2006/relationships/image" Target="../media/image-4-8.png"/><Relationship Id="rId9" Type="http://schemas.openxmlformats.org/officeDocument/2006/relationships/image" Target="../media/image-4-3.png"/><Relationship Id="rId10" Type="http://schemas.openxmlformats.org/officeDocument/2006/relationships/image" Target="../media/image-4-10.png"/><Relationship Id="rId11" Type="http://schemas.openxmlformats.org/officeDocument/2006/relationships/image" Target="../media/image-4-3.png"/><Relationship Id="rId12" Type="http://schemas.openxmlformats.org/officeDocument/2006/relationships/image" Target="../media/image-4-12.png"/><Relationship Id="rId13" Type="http://schemas.openxmlformats.org/officeDocument/2006/relationships/image" Target="../media/image-4-3.png"/><Relationship Id="rId14" Type="http://schemas.openxmlformats.org/officeDocument/2006/relationships/image" Target="../media/image-4-14.png"/><Relationship Id="rId15" Type="http://schemas.openxmlformats.org/officeDocument/2006/relationships/image" Target="../media/image-4-3.png"/><Relationship Id="rId16" Type="http://schemas.openxmlformats.org/officeDocument/2006/relationships/image" Target="../media/image-4-16.png"/><Relationship Id="rId17" Type="http://schemas.openxmlformats.org/officeDocument/2006/relationships/image" Target="../media/image-4-3.png"/><Relationship Id="rId18" Type="http://schemas.openxmlformats.org/officeDocument/2006/relationships/image" Target="../media/image-4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3.png"/><Relationship Id="rId6" Type="http://schemas.openxmlformats.org/officeDocument/2006/relationships/image" Target="../media/image-5-6.png"/><Relationship Id="rId7" Type="http://schemas.openxmlformats.org/officeDocument/2006/relationships/image" Target="../media/image-5-3.png"/><Relationship Id="rId8" Type="http://schemas.openxmlformats.org/officeDocument/2006/relationships/image" Target="../media/image-5-8.png"/><Relationship Id="rId9" Type="http://schemas.openxmlformats.org/officeDocument/2006/relationships/image" Target="../media/image-5-3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3.png"/><Relationship Id="rId6" Type="http://schemas.openxmlformats.org/officeDocument/2006/relationships/image" Target="../media/image-6-6.png"/><Relationship Id="rId7" Type="http://schemas.openxmlformats.org/officeDocument/2006/relationships/image" Target="../media/image-6-3.png"/><Relationship Id="rId8" Type="http://schemas.openxmlformats.org/officeDocument/2006/relationships/image" Target="../media/image-6-8.png"/><Relationship Id="rId9" Type="http://schemas.openxmlformats.org/officeDocument/2006/relationships/image" Target="../media/image-6-3.png"/><Relationship Id="rId10" Type="http://schemas.openxmlformats.org/officeDocument/2006/relationships/image" Target="../media/image-6-10.png"/><Relationship Id="rId11" Type="http://schemas.openxmlformats.org/officeDocument/2006/relationships/image" Target="../media/image-6-3.png"/><Relationship Id="rId12" Type="http://schemas.openxmlformats.org/officeDocument/2006/relationships/image" Target="../media/image-6-12.png"/><Relationship Id="rId13" Type="http://schemas.openxmlformats.org/officeDocument/2006/relationships/image" Target="../media/image-6-3.png"/><Relationship Id="rId14" Type="http://schemas.openxmlformats.org/officeDocument/2006/relationships/image" Target="../media/image-6-14.png"/><Relationship Id="rId15" Type="http://schemas.openxmlformats.org/officeDocument/2006/relationships/image" Target="../media/image-6-3.png"/><Relationship Id="rId16" Type="http://schemas.openxmlformats.org/officeDocument/2006/relationships/image" Target="../media/image-6-16.png"/><Relationship Id="rId17" Type="http://schemas.openxmlformats.org/officeDocument/2006/relationships/image" Target="../media/image-6-3.png"/><Relationship Id="rId18" Type="http://schemas.openxmlformats.org/officeDocument/2006/relationships/image" Target="../media/image-6-18.png"/><Relationship Id="rId19" Type="http://schemas.openxmlformats.org/officeDocument/2006/relationships/image" Target="../media/image-6-3.png"/><Relationship Id="rId20" Type="http://schemas.openxmlformats.org/officeDocument/2006/relationships/image" Target="../media/image-6-20.png"/><Relationship Id="rId21" Type="http://schemas.openxmlformats.org/officeDocument/2006/relationships/image" Target="../media/image-6-3.png"/><Relationship Id="rId22" Type="http://schemas.openxmlformats.org/officeDocument/2006/relationships/image" Target="../media/image-6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3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3.png"/><Relationship Id="rId7" Type="http://schemas.openxmlformats.org/officeDocument/2006/relationships/image" Target="../media/image-8-4.png"/><Relationship Id="rId8" Type="http://schemas.openxmlformats.org/officeDocument/2006/relationships/image" Target="../media/image-8-8.png"/><Relationship Id="rId9" Type="http://schemas.openxmlformats.org/officeDocument/2006/relationships/image" Target="../media/image-8-3.png"/><Relationship Id="rId10" Type="http://schemas.openxmlformats.org/officeDocument/2006/relationships/image" Target="../media/image-8-4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3.png"/><Relationship Id="rId5" Type="http://schemas.openxmlformats.org/officeDocument/2006/relationships/image" Target="../media/image-12-3.png"/><Relationship Id="rId6" Type="http://schemas.openxmlformats.org/officeDocument/2006/relationships/image" Target="../media/image-12-3.png"/><Relationship Id="rId7" Type="http://schemas.openxmlformats.org/officeDocument/2006/relationships/image" Target="../media/image-12-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3.png"/><Relationship Id="rId6" Type="http://schemas.openxmlformats.org/officeDocument/2006/relationships/image" Target="../media/image-13-6.png"/><Relationship Id="rId7" Type="http://schemas.openxmlformats.org/officeDocument/2006/relationships/image" Target="../media/image-13-3.png"/><Relationship Id="rId8" Type="http://schemas.openxmlformats.org/officeDocument/2006/relationships/image" Target="../media/image-13-8.png"/><Relationship Id="rId9" Type="http://schemas.openxmlformats.org/officeDocument/2006/relationships/image" Target="../media/image-13-3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3.png"/><Relationship Id="rId6" Type="http://schemas.openxmlformats.org/officeDocument/2006/relationships/image" Target="../media/image-14-6.png"/><Relationship Id="rId7" Type="http://schemas.openxmlformats.org/officeDocument/2006/relationships/image" Target="../media/image-14-3.png"/><Relationship Id="rId8" Type="http://schemas.openxmlformats.org/officeDocument/2006/relationships/image" Target="../media/image-14-8.png"/><Relationship Id="rId9" Type="http://schemas.openxmlformats.org/officeDocument/2006/relationships/image" Target="../media/image-14-3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3.png"/><Relationship Id="rId12" Type="http://schemas.openxmlformats.org/officeDocument/2006/relationships/image" Target="../media/image-1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4.png"/><Relationship Id="rId6" Type="http://schemas.openxmlformats.org/officeDocument/2006/relationships/image" Target="../media/image-15-6.png"/><Relationship Id="rId7" Type="http://schemas.openxmlformats.org/officeDocument/2006/relationships/image" Target="../media/image-15-4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3.png"/><Relationship Id="rId7" Type="http://schemas.openxmlformats.org/officeDocument/2006/relationships/image" Target="../media/image-16-4.png"/><Relationship Id="rId8" Type="http://schemas.openxmlformats.org/officeDocument/2006/relationships/image" Target="../media/image-16-8.png"/><Relationship Id="rId9" Type="http://schemas.openxmlformats.org/officeDocument/2006/relationships/image" Target="../media/image-16-3.png"/><Relationship Id="rId10" Type="http://schemas.openxmlformats.org/officeDocument/2006/relationships/image" Target="../media/image-16-4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3.png"/><Relationship Id="rId13" Type="http://schemas.openxmlformats.org/officeDocument/2006/relationships/image" Target="../media/image-16-4.png"/><Relationship Id="rId14" Type="http://schemas.openxmlformats.org/officeDocument/2006/relationships/image" Target="../media/image-16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3.png"/><Relationship Id="rId6" Type="http://schemas.openxmlformats.org/officeDocument/2006/relationships/image" Target="../media/image-17-6.png"/><Relationship Id="rId7" Type="http://schemas.openxmlformats.org/officeDocument/2006/relationships/image" Target="../media/image-17-3.png"/><Relationship Id="rId8" Type="http://schemas.openxmlformats.org/officeDocument/2006/relationships/image" Target="../media/image-17-8.png"/><Relationship Id="rId9" Type="http://schemas.openxmlformats.org/officeDocument/2006/relationships/image" Target="../media/image-17-3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3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3.png"/><Relationship Id="rId16" Type="http://schemas.openxmlformats.org/officeDocument/2006/relationships/image" Target="../media/image-17-16.png"/><Relationship Id="rId17" Type="http://schemas.openxmlformats.org/officeDocument/2006/relationships/image" Target="../media/image-17-13.png"/><Relationship Id="rId18" Type="http://schemas.openxmlformats.org/officeDocument/2006/relationships/image" Target="../media/image-17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3.png"/><Relationship Id="rId6" Type="http://schemas.openxmlformats.org/officeDocument/2006/relationships/image" Target="../media/image-18-6.png"/><Relationship Id="rId7" Type="http://schemas.openxmlformats.org/officeDocument/2006/relationships/image" Target="../media/image-18-3.png"/><Relationship Id="rId8" Type="http://schemas.openxmlformats.org/officeDocument/2006/relationships/image" Target="../media/image-18-8.png"/><Relationship Id="rId9" Type="http://schemas.openxmlformats.org/officeDocument/2006/relationships/image" Target="../media/image-18-3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3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3.png"/><Relationship Id="rId14" Type="http://schemas.openxmlformats.org/officeDocument/2006/relationships/image" Target="../media/image-18-14.png"/><Relationship Id="rId15" Type="http://schemas.openxmlformats.org/officeDocument/2006/relationships/image" Target="../media/image-18-3.png"/><Relationship Id="rId16" Type="http://schemas.openxmlformats.org/officeDocument/2006/relationships/image" Target="../media/image-18-16.png"/><Relationship Id="rId17" Type="http://schemas.openxmlformats.org/officeDocument/2006/relationships/image" Target="../media/image-18-3.png"/><Relationship Id="rId18" Type="http://schemas.openxmlformats.org/officeDocument/2006/relationships/image" Target="../media/image-18-18.png"/><Relationship Id="rId19" Type="http://schemas.openxmlformats.org/officeDocument/2006/relationships/image" Target="../media/image-18-3.png"/><Relationship Id="rId20" Type="http://schemas.openxmlformats.org/officeDocument/2006/relationships/image" Target="../media/image-18-20.png"/><Relationship Id="rId21" Type="http://schemas.openxmlformats.org/officeDocument/2006/relationships/image" Target="../media/image-18-3.png"/><Relationship Id="rId22" Type="http://schemas.openxmlformats.org/officeDocument/2006/relationships/image" Target="../media/image-18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3.png"/><Relationship Id="rId6" Type="http://schemas.openxmlformats.org/officeDocument/2006/relationships/image" Target="../media/image-19-4.png"/><Relationship Id="rId7" Type="http://schemas.openxmlformats.org/officeDocument/2006/relationships/image" Target="../media/image-19-3.png"/><Relationship Id="rId8" Type="http://schemas.openxmlformats.org/officeDocument/2006/relationships/image" Target="../media/image-19-4.png"/><Relationship Id="rId9" Type="http://schemas.openxmlformats.org/officeDocument/2006/relationships/image" Target="../media/image-19-3.png"/><Relationship Id="rId10" Type="http://schemas.openxmlformats.org/officeDocument/2006/relationships/image" Target="../media/image-19-4.png"/><Relationship Id="rId11" Type="http://schemas.openxmlformats.org/officeDocument/2006/relationships/image" Target="../media/image-19-3.png"/><Relationship Id="rId12" Type="http://schemas.openxmlformats.org/officeDocument/2006/relationships/image" Target="../media/image-19-4.png"/><Relationship Id="rId13" Type="http://schemas.openxmlformats.org/officeDocument/2006/relationships/image" Target="../media/image-19-3.png"/><Relationship Id="rId14" Type="http://schemas.openxmlformats.org/officeDocument/2006/relationships/image" Target="../media/image-19-4.png"/><Relationship Id="rId15" Type="http://schemas.openxmlformats.org/officeDocument/2006/relationships/image" Target="../media/image-19-3.png"/><Relationship Id="rId16" Type="http://schemas.openxmlformats.org/officeDocument/2006/relationships/image" Target="../media/image-19-4.png"/><Relationship Id="rId17" Type="http://schemas.openxmlformats.org/officeDocument/2006/relationships/image" Target="../media/image-19-3.png"/><Relationship Id="rId18" Type="http://schemas.openxmlformats.org/officeDocument/2006/relationships/image" Target="../media/image-19-4.png"/><Relationship Id="rId19" Type="http://schemas.openxmlformats.org/officeDocument/2006/relationships/image" Target="../media/image-19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3.png"/><Relationship Id="rId6" Type="http://schemas.openxmlformats.org/officeDocument/2006/relationships/image" Target="../media/image-20-6.png"/><Relationship Id="rId7" Type="http://schemas.openxmlformats.org/officeDocument/2006/relationships/image" Target="../media/image-20-3.png"/><Relationship Id="rId8" Type="http://schemas.openxmlformats.org/officeDocument/2006/relationships/image" Target="../media/image-20-8.png"/><Relationship Id="rId9" Type="http://schemas.openxmlformats.org/officeDocument/2006/relationships/image" Target="../media/image-20-3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3.png"/><Relationship Id="rId12" Type="http://schemas.openxmlformats.org/officeDocument/2006/relationships/image" Target="../media/image-20-12.png"/><Relationship Id="rId13" Type="http://schemas.openxmlformats.org/officeDocument/2006/relationships/image" Target="../media/image-20-3.png"/><Relationship Id="rId14" Type="http://schemas.openxmlformats.org/officeDocument/2006/relationships/image" Target="../media/image-20-14.png"/><Relationship Id="rId15" Type="http://schemas.openxmlformats.org/officeDocument/2006/relationships/image" Target="../media/image-20-15.png"/><Relationship Id="rId16" Type="http://schemas.openxmlformats.org/officeDocument/2006/relationships/image" Target="../media/image-20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2/glow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377440" y="-2377440"/>
            <a:ext cx="5669280" cy="5669280"/>
          </a:xfrm>
          <a:prstGeom prst="rect">
            <a:avLst/>
          </a:prstGeom>
        </p:spPr>
      </p:pic>
      <p:pic>
        <p:nvPicPr>
          <p:cNvPr id="3" name="Image 1" descr="/home/claude/ppt2/glow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3291840"/>
            <a:ext cx="5852160" cy="58521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281160" y="50292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0F2418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9427464" y="630936"/>
            <a:ext cx="82296" cy="8229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2"/>
          <p:cNvSpPr/>
          <p:nvPr/>
        </p:nvSpPr>
        <p:spPr>
          <a:xfrm>
            <a:off x="9555480" y="5029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DEPLOYED</a:t>
            </a:r>
            <a:endParaRPr lang="en-US" sz="1050" dirty="0"/>
          </a:p>
        </p:txBody>
      </p:sp>
      <p:pic>
        <p:nvPicPr>
          <p:cNvPr id="7" name="Image 2" descr="/home/claude/ppt2/logo_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1051560" cy="10515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8308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Hazardous </a:t>
            </a:r>
            <a:pPr indent="0" marL="0">
              <a:buNone/>
            </a:pPr>
            <a:r>
              <a:rPr lang="en-US" sz="3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3400" dirty="0"/>
          </a:p>
        </p:txBody>
      </p:sp>
      <p:sp>
        <p:nvSpPr>
          <p:cNvPr id="9" name="Text 4"/>
          <p:cNvSpPr/>
          <p:nvPr/>
        </p:nvSpPr>
        <p:spPr>
          <a:xfrm>
            <a:off x="1801368" y="117043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Hazardous Waste Detection &amp; Classification System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566928" y="1965960"/>
            <a:ext cx="1106424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48640" y="23317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YOLOv8-Based Object Detection System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548640" y="292608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custom-trained YOLOv8s model that automatically detects and classifies shock absorbers and cylinders from images and live camera input — deployed as a real-time web application.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48640" y="416052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48640" y="427939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98.45%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548640" y="47548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3383280" y="416052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383280" y="427939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99.17%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3383280" y="47548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217920" y="416052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217920" y="427939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6217920" y="47548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CLASSES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9052560" y="416052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9052560" y="427939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9052560" y="47548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EPOCHS</a:t>
            </a:r>
            <a:endParaRPr lang="en-US" sz="900" dirty="0"/>
          </a:p>
        </p:txBody>
      </p:sp>
      <p:pic>
        <p:nvPicPr>
          <p:cNvPr id="25" name="Image 3" descr="/home/claude/ppt2/button_gr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532120"/>
            <a:ext cx="11091672" cy="6583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68680" y="553212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3200400" y="553212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hazardous-object-detection.onrender.com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20-Slide Project Proposal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1099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20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2/glow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560320" y="2743200"/>
            <a:ext cx="5029200" cy="5029200"/>
          </a:xfrm>
          <a:prstGeom prst="rect">
            <a:avLst/>
          </a:prstGeom>
        </p:spPr>
      </p:pic>
      <p:pic>
        <p:nvPicPr>
          <p:cNvPr id="3" name="Image 1" descr="/home/claude/ppt2/glow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-2377440"/>
            <a:ext cx="5029200" cy="5029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proposal covers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80136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C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078992" y="1783080"/>
            <a:ext cx="4709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548640" y="236829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C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2368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078992" y="2350008"/>
            <a:ext cx="4709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29352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C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8640" y="29352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078992" y="2916936"/>
            <a:ext cx="4709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3502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C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8640" y="3502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078992" y="3483864"/>
            <a:ext cx="4709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Roadmap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48640" y="4069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C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8640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078992" y="4050792"/>
            <a:ext cx="4709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(Collect → Split)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548640" y="46360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C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8640" y="4636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1078992" y="4617720"/>
            <a:ext cx="4709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&amp; Training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548640" y="52029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C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48640" y="5202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1078992" y="5184648"/>
            <a:ext cx="4709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6400800" y="180136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C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400800" y="1801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931152" y="1783080"/>
            <a:ext cx="4709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Pipeline</a:t>
            </a:r>
            <a:endParaRPr lang="en-US" sz="1350" dirty="0"/>
          </a:p>
        </p:txBody>
      </p:sp>
      <p:sp>
        <p:nvSpPr>
          <p:cNvPr id="30" name="Shape 26"/>
          <p:cNvSpPr/>
          <p:nvPr/>
        </p:nvSpPr>
        <p:spPr>
          <a:xfrm>
            <a:off x="6400800" y="236829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C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400800" y="2368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6931152" y="2350008"/>
            <a:ext cx="4709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&amp; Interface Tour</a:t>
            </a:r>
            <a:endParaRPr lang="en-US" sz="1350" dirty="0"/>
          </a:p>
        </p:txBody>
      </p:sp>
      <p:sp>
        <p:nvSpPr>
          <p:cNvPr id="33" name="Shape 29"/>
          <p:cNvSpPr/>
          <p:nvPr/>
        </p:nvSpPr>
        <p:spPr>
          <a:xfrm>
            <a:off x="6400800" y="29352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C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400800" y="29352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6931152" y="2916936"/>
            <a:ext cx="4709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50" dirty="0"/>
          </a:p>
        </p:txBody>
      </p:sp>
      <p:sp>
        <p:nvSpPr>
          <p:cNvPr id="36" name="Shape 32"/>
          <p:cNvSpPr/>
          <p:nvPr/>
        </p:nvSpPr>
        <p:spPr>
          <a:xfrm>
            <a:off x="6400800" y="35021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C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400800" y="3502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6931152" y="3483864"/>
            <a:ext cx="4709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/ Industrial Design</a:t>
            </a:r>
            <a:endParaRPr lang="en-US" sz="1350" dirty="0"/>
          </a:p>
        </p:txBody>
      </p:sp>
      <p:sp>
        <p:nvSpPr>
          <p:cNvPr id="39" name="Shape 35"/>
          <p:cNvSpPr/>
          <p:nvPr/>
        </p:nvSpPr>
        <p:spPr>
          <a:xfrm>
            <a:off x="6400800" y="4069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C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400800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6931152" y="4050792"/>
            <a:ext cx="4709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50" dirty="0"/>
          </a:p>
        </p:txBody>
      </p:sp>
      <p:sp>
        <p:nvSpPr>
          <p:cNvPr id="42" name="Shape 38"/>
          <p:cNvSpPr/>
          <p:nvPr/>
        </p:nvSpPr>
        <p:spPr>
          <a:xfrm>
            <a:off x="6400800" y="46360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C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0" y="4636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6931152" y="4617720"/>
            <a:ext cx="4709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Outcomes, Future Work &amp; Conclusion</a:t>
            </a:r>
            <a:endParaRPr lang="en-US" sz="1350" dirty="0"/>
          </a:p>
        </p:txBody>
      </p:sp>
      <p:sp>
        <p:nvSpPr>
          <p:cNvPr id="45" name="Text 41"/>
          <p:cNvSpPr/>
          <p:nvPr/>
        </p:nvSpPr>
        <p:spPr>
          <a:xfrm>
            <a:off x="111099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2/glow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377440" y="-2377440"/>
            <a:ext cx="4937760" cy="4937760"/>
          </a:xfrm>
          <a:prstGeom prst="rect">
            <a:avLst/>
          </a:prstGeom>
        </p:spPr>
      </p:pic>
      <p:pic>
        <p:nvPicPr>
          <p:cNvPr id="3" name="Image 1" descr="/home/claude/ppt2/glow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840480"/>
            <a:ext cx="4937760" cy="4937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PROBLEM STATEMENT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waste inspection cannot keep pace with scale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548640" y="1783080"/>
            <a:ext cx="5943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 waste such as cylinders and shock absorbers can pose serious safety and environmental risks if not properly identified and handled.</a:t>
            </a:r>
            <a:endParaRPr lang="en-US" sz="1450" dirty="0"/>
          </a:p>
          <a:p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inspection depends on manual identification — time-consuming, inconsistent, and difficult to scale across large waste volumes.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automated, computer-vision-based system is needed to identify hazardous waste quickly and accurately, at scale.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548640" y="507492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94944" y="5212080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9" name="Text 5"/>
          <p:cNvSpPr/>
          <p:nvPr/>
        </p:nvSpPr>
        <p:spPr>
          <a:xfrm>
            <a:off x="896112" y="5074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Risk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611880" y="507492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758184" y="5212080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8"/>
          <p:cNvSpPr/>
          <p:nvPr/>
        </p:nvSpPr>
        <p:spPr>
          <a:xfrm>
            <a:off x="3959352" y="5074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Risk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557784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94944" y="5715000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1"/>
          <p:cNvSpPr/>
          <p:nvPr/>
        </p:nvSpPr>
        <p:spPr>
          <a:xfrm>
            <a:off x="896112" y="55778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Results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611880" y="557784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758184" y="5715000"/>
            <a:ext cx="100584" cy="1005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4"/>
          <p:cNvSpPr/>
          <p:nvPr/>
        </p:nvSpPr>
        <p:spPr>
          <a:xfrm>
            <a:off x="3959352" y="55778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Labor Cost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903720" y="1737360"/>
            <a:ext cx="4709160" cy="4160520"/>
          </a:xfrm>
          <a:prstGeom prst="roundRect">
            <a:avLst>
              <a:gd name="adj" fmla="val 1978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20" name="Image 2" descr="/home/claude/ppt2/bar_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6" y="1732788"/>
            <a:ext cx="4453128" cy="41148"/>
          </a:xfrm>
          <a:prstGeom prst="rect">
            <a:avLst/>
          </a:prstGeom>
        </p:spPr>
      </p:pic>
      <p:pic>
        <p:nvPicPr>
          <p:cNvPr id="21" name="Image 3" descr="/home/claude/ppt2/circle_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2057400"/>
            <a:ext cx="621792" cy="621792"/>
          </a:xfrm>
          <a:prstGeom prst="rect">
            <a:avLst/>
          </a:prstGeom>
        </p:spPr>
      </p:pic>
      <p:pic>
        <p:nvPicPr>
          <p:cNvPr id="22" name="Image 4" descr="/home/claude/ppt2/icon_bul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9208" y="2212848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23760" y="2788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7223760" y="32004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 AI-powered object detection system that automatically identifies hazardous waste, locates each object with bounding boxes, and reports a confidence score for every detection — accessible through a live web application.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7223760" y="4709160"/>
            <a:ext cx="406908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223760" y="48097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per detection: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7269480" y="5120640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8" name="Text 21"/>
          <p:cNvSpPr/>
          <p:nvPr/>
        </p:nvSpPr>
        <p:spPr>
          <a:xfrm>
            <a:off x="7406640" y="50474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class (Shock Absorber / Cylinder)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269480" y="5404104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0" name="Text 23"/>
          <p:cNvSpPr/>
          <p:nvPr/>
        </p:nvSpPr>
        <p:spPr>
          <a:xfrm>
            <a:off x="7406640" y="53309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coordinates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7269480" y="5687568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2" name="Text 25"/>
          <p:cNvSpPr/>
          <p:nvPr/>
        </p:nvSpPr>
        <p:spPr>
          <a:xfrm>
            <a:off x="7406640" y="56144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(%)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111099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2/glow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560320" y="-2560320"/>
            <a:ext cx="4754880" cy="4754880"/>
          </a:xfrm>
          <a:prstGeom prst="rect">
            <a:avLst/>
          </a:prstGeom>
        </p:spPr>
      </p:pic>
      <p:pic>
        <p:nvPicPr>
          <p:cNvPr id="3" name="Image 1" descr="/home/claude/ppt2/glow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206240"/>
            <a:ext cx="4754880" cy="47548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PROJECT OBJECTIVE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system is designed to achieve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783080"/>
            <a:ext cx="2649474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7" name="Image 2" descr="/home/claude/ppt2/circle_fl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65960"/>
            <a:ext cx="502920" cy="502920"/>
          </a:xfrm>
          <a:prstGeom prst="rect">
            <a:avLst/>
          </a:prstGeom>
        </p:spPr>
      </p:pic>
      <p:pic>
        <p:nvPicPr>
          <p:cNvPr id="8" name="Image 3" descr="/home/claude/ppt2/icon_crosshai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091690"/>
            <a:ext cx="251460" cy="25146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31520" y="2606040"/>
            <a:ext cx="228371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detect hazardous waste objects from images</a:t>
            </a:r>
            <a:endParaRPr lang="en-US" sz="1150" dirty="0"/>
          </a:p>
        </p:txBody>
      </p:sp>
      <p:sp>
        <p:nvSpPr>
          <p:cNvPr id="10" name="Shape 4"/>
          <p:cNvSpPr/>
          <p:nvPr/>
        </p:nvSpPr>
        <p:spPr>
          <a:xfrm>
            <a:off x="3362706" y="1783080"/>
            <a:ext cx="2649474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11" name="Image 4" descr="/home/claude/ppt2/circle_fla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5586" y="1965960"/>
            <a:ext cx="502920" cy="502920"/>
          </a:xfrm>
          <a:prstGeom prst="rect">
            <a:avLst/>
          </a:prstGeom>
        </p:spPr>
      </p:pic>
      <p:pic>
        <p:nvPicPr>
          <p:cNvPr id="12" name="Image 5" descr="/home/claude/ppt2/icon_tag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1316" y="2091690"/>
            <a:ext cx="251460" cy="25146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3545586" y="2606040"/>
            <a:ext cx="228371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objects into shock absorber and cylinder categories</a:t>
            </a:r>
            <a:endParaRPr lang="en-US" sz="1150" dirty="0"/>
          </a:p>
        </p:txBody>
      </p:sp>
      <p:sp>
        <p:nvSpPr>
          <p:cNvPr id="14" name="Shape 6"/>
          <p:cNvSpPr/>
          <p:nvPr/>
        </p:nvSpPr>
        <p:spPr>
          <a:xfrm>
            <a:off x="6176772" y="1783080"/>
            <a:ext cx="2649474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15" name="Image 6" descr="/home/claude/ppt2/circle_fla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9652" y="1965960"/>
            <a:ext cx="502920" cy="502920"/>
          </a:xfrm>
          <a:prstGeom prst="rect">
            <a:avLst/>
          </a:prstGeom>
        </p:spPr>
      </p:pic>
      <p:pic>
        <p:nvPicPr>
          <p:cNvPr id="16" name="Image 7" descr="/home/claude/ppt2/icon_cub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5382" y="2091690"/>
            <a:ext cx="251460" cy="25146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6359652" y="2606040"/>
            <a:ext cx="228371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detected objects using bounding boxes</a:t>
            </a:r>
            <a:endParaRPr lang="en-US" sz="1150" dirty="0"/>
          </a:p>
        </p:txBody>
      </p:sp>
      <p:sp>
        <p:nvSpPr>
          <p:cNvPr id="18" name="Shape 8"/>
          <p:cNvSpPr/>
          <p:nvPr/>
        </p:nvSpPr>
        <p:spPr>
          <a:xfrm>
            <a:off x="8990838" y="1783080"/>
            <a:ext cx="2649474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19" name="Image 8" descr="/home/claude/ppt2/circle_fla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73718" y="1965960"/>
            <a:ext cx="502920" cy="502920"/>
          </a:xfrm>
          <a:prstGeom prst="rect">
            <a:avLst/>
          </a:prstGeom>
        </p:spPr>
      </p:pic>
      <p:pic>
        <p:nvPicPr>
          <p:cNvPr id="20" name="Image 9" descr="/home/claude/ppt2/icon_gaug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99448" y="2091690"/>
            <a:ext cx="251460" cy="25146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9173718" y="2606040"/>
            <a:ext cx="228371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confidence scores for every prediction</a:t>
            </a:r>
            <a:endParaRPr lang="en-US" sz="1150" dirty="0"/>
          </a:p>
        </p:txBody>
      </p:sp>
      <p:sp>
        <p:nvSpPr>
          <p:cNvPr id="22" name="Shape 10"/>
          <p:cNvSpPr/>
          <p:nvPr/>
        </p:nvSpPr>
        <p:spPr>
          <a:xfrm>
            <a:off x="548640" y="3858768"/>
            <a:ext cx="2649474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23" name="Image 10" descr="/home/claude/ppt2/circle_fla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" y="4041648"/>
            <a:ext cx="502920" cy="502920"/>
          </a:xfrm>
          <a:prstGeom prst="rect">
            <a:avLst/>
          </a:prstGeom>
        </p:spPr>
      </p:pic>
      <p:pic>
        <p:nvPicPr>
          <p:cNvPr id="24" name="Image 11" descr="/home/claude/ppt2/icon_che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250" y="4167378"/>
            <a:ext cx="251460" cy="251460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731520" y="4681728"/>
            <a:ext cx="228371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dependence on manual inspection</a:t>
            </a:r>
            <a:endParaRPr lang="en-US" sz="1150" dirty="0"/>
          </a:p>
        </p:txBody>
      </p:sp>
      <p:sp>
        <p:nvSpPr>
          <p:cNvPr id="26" name="Shape 12"/>
          <p:cNvSpPr/>
          <p:nvPr/>
        </p:nvSpPr>
        <p:spPr>
          <a:xfrm>
            <a:off x="3362706" y="3858768"/>
            <a:ext cx="2649474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27" name="Image 12" descr="/home/claude/ppt2/circle_fla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45586" y="4041648"/>
            <a:ext cx="502920" cy="502920"/>
          </a:xfrm>
          <a:prstGeom prst="rect">
            <a:avLst/>
          </a:prstGeom>
        </p:spPr>
      </p:pic>
      <p:pic>
        <p:nvPicPr>
          <p:cNvPr id="28" name="Image 13" descr="/home/claude/ppt2/icon_video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71316" y="4167378"/>
            <a:ext cx="251460" cy="251460"/>
          </a:xfrm>
          <a:prstGeom prst="rect">
            <a:avLst/>
          </a:prstGeom>
        </p:spPr>
      </p:pic>
      <p:sp>
        <p:nvSpPr>
          <p:cNvPr id="29" name="Text 13"/>
          <p:cNvSpPr/>
          <p:nvPr/>
        </p:nvSpPr>
        <p:spPr>
          <a:xfrm>
            <a:off x="3545586" y="4681728"/>
            <a:ext cx="228371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real-time detection via camera or webcam</a:t>
            </a:r>
            <a:endParaRPr lang="en-US" sz="1150" dirty="0"/>
          </a:p>
        </p:txBody>
      </p:sp>
      <p:sp>
        <p:nvSpPr>
          <p:cNvPr id="30" name="Shape 14"/>
          <p:cNvSpPr/>
          <p:nvPr/>
        </p:nvSpPr>
        <p:spPr>
          <a:xfrm>
            <a:off x="6176772" y="3858768"/>
            <a:ext cx="2649474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31" name="Image 14" descr="/home/claude/ppt2/circle_flat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59652" y="4041648"/>
            <a:ext cx="502920" cy="502920"/>
          </a:xfrm>
          <a:prstGeom prst="rect">
            <a:avLst/>
          </a:prstGeom>
        </p:spPr>
      </p:pic>
      <p:pic>
        <p:nvPicPr>
          <p:cNvPr id="32" name="Image 15" descr="/home/claude/ppt2/icon_glob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85382" y="4167378"/>
            <a:ext cx="251460" cy="251460"/>
          </a:xfrm>
          <a:prstGeom prst="rect">
            <a:avLst/>
          </a:prstGeom>
        </p:spPr>
      </p:pic>
      <p:sp>
        <p:nvSpPr>
          <p:cNvPr id="33" name="Text 15"/>
          <p:cNvSpPr/>
          <p:nvPr/>
        </p:nvSpPr>
        <p:spPr>
          <a:xfrm>
            <a:off x="6359652" y="4681728"/>
            <a:ext cx="228371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web-based interface for practical use</a:t>
            </a:r>
            <a:endParaRPr lang="en-US" sz="1150" dirty="0"/>
          </a:p>
        </p:txBody>
      </p:sp>
      <p:sp>
        <p:nvSpPr>
          <p:cNvPr id="34" name="Shape 16"/>
          <p:cNvSpPr/>
          <p:nvPr/>
        </p:nvSpPr>
        <p:spPr>
          <a:xfrm>
            <a:off x="8990838" y="3858768"/>
            <a:ext cx="2649474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35" name="Image 16" descr="/home/claude/ppt2/circle_flat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73718" y="4041648"/>
            <a:ext cx="502920" cy="502920"/>
          </a:xfrm>
          <a:prstGeom prst="rect">
            <a:avLst/>
          </a:prstGeom>
        </p:spPr>
      </p:pic>
      <p:pic>
        <p:nvPicPr>
          <p:cNvPr id="36" name="Image 17" descr="/home/claude/ppt2/icon_rocket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99448" y="4167378"/>
            <a:ext cx="251460" cy="251460"/>
          </a:xfrm>
          <a:prstGeom prst="rect">
            <a:avLst/>
          </a:prstGeom>
        </p:spPr>
      </p:pic>
      <p:sp>
        <p:nvSpPr>
          <p:cNvPr id="37" name="Text 17"/>
          <p:cNvSpPr/>
          <p:nvPr/>
        </p:nvSpPr>
        <p:spPr>
          <a:xfrm>
            <a:off x="9173718" y="4681728"/>
            <a:ext cx="228371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trained model as an online AI system</a:t>
            </a:r>
            <a:endParaRPr lang="en-US" sz="1150" dirty="0"/>
          </a:p>
        </p:txBody>
      </p:sp>
      <p:sp>
        <p:nvSpPr>
          <p:cNvPr id="38" name="Text 18"/>
          <p:cNvSpPr/>
          <p:nvPr/>
        </p:nvSpPr>
        <p:spPr>
          <a:xfrm>
            <a:off x="111099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2/glow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377440" y="3108960"/>
            <a:ext cx="4937760" cy="4937760"/>
          </a:xfrm>
          <a:prstGeom prst="rect">
            <a:avLst/>
          </a:prstGeom>
        </p:spPr>
      </p:pic>
      <p:pic>
        <p:nvPicPr>
          <p:cNvPr id="3" name="Image 1" descr="/home/claude/ppt2/glow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-2194560"/>
            <a:ext cx="4937760" cy="4937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PROPOSED SOLUTION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custom-trained YOLOv8s detection pipeline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548640" y="1536192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takes an image or camera frame, passes it through the trained YOLO model, and returns the object class, its bounding box, and a confidence score — served through a deployed Flask API and web interface.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48640" y="2880360"/>
            <a:ext cx="1417320" cy="146304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8" name="Image 2" descr="/home/claude/ppt2/circle_fl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3081528"/>
            <a:ext cx="548640" cy="548640"/>
          </a:xfrm>
          <a:prstGeom prst="rect">
            <a:avLst/>
          </a:prstGeom>
        </p:spPr>
      </p:pic>
      <p:pic>
        <p:nvPicPr>
          <p:cNvPr id="9" name="Image 3" descr="/home/claude/ppt2/icon_came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" y="3218688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94360" y="37947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11" name="Shape 5"/>
          <p:cNvSpPr/>
          <p:nvPr/>
        </p:nvSpPr>
        <p:spPr>
          <a:xfrm>
            <a:off x="1938528" y="3538728"/>
            <a:ext cx="237744" cy="146304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12" name="Shape 6"/>
          <p:cNvSpPr/>
          <p:nvPr/>
        </p:nvSpPr>
        <p:spPr>
          <a:xfrm>
            <a:off x="2148840" y="2880360"/>
            <a:ext cx="1417320" cy="146304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13" name="Image 4" descr="/home/claude/ppt2/circle_fla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3180" y="3081528"/>
            <a:ext cx="548640" cy="548640"/>
          </a:xfrm>
          <a:prstGeom prst="rect">
            <a:avLst/>
          </a:prstGeom>
        </p:spPr>
      </p:pic>
      <p:pic>
        <p:nvPicPr>
          <p:cNvPr id="14" name="Image 5" descr="/home/claude/ppt2/icon_bra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0340" y="3218688"/>
            <a:ext cx="274320" cy="2743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194560" y="37947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</a:t>
            </a:r>
            <a:endParaRPr lang="en-US" sz="1100" dirty="0"/>
          </a:p>
        </p:txBody>
      </p:sp>
      <p:sp>
        <p:nvSpPr>
          <p:cNvPr id="16" name="Shape 8"/>
          <p:cNvSpPr/>
          <p:nvPr/>
        </p:nvSpPr>
        <p:spPr>
          <a:xfrm>
            <a:off x="3538728" y="3538728"/>
            <a:ext cx="237744" cy="146304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17" name="Shape 9"/>
          <p:cNvSpPr/>
          <p:nvPr/>
        </p:nvSpPr>
        <p:spPr>
          <a:xfrm>
            <a:off x="3749040" y="2880360"/>
            <a:ext cx="1417320" cy="146304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18" name="Image 6" descr="/home/claude/ppt2/circle_fla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3380" y="3081528"/>
            <a:ext cx="548640" cy="548640"/>
          </a:xfrm>
          <a:prstGeom prst="rect">
            <a:avLst/>
          </a:prstGeom>
        </p:spPr>
      </p:pic>
      <p:pic>
        <p:nvPicPr>
          <p:cNvPr id="19" name="Image 7" descr="/home/claude/ppt2/icon_tag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0540" y="3218688"/>
            <a:ext cx="274320" cy="27432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3794760" y="37947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21" name="Shape 11"/>
          <p:cNvSpPr/>
          <p:nvPr/>
        </p:nvSpPr>
        <p:spPr>
          <a:xfrm>
            <a:off x="5138928" y="3538728"/>
            <a:ext cx="237744" cy="146304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22" name="Shape 12"/>
          <p:cNvSpPr/>
          <p:nvPr/>
        </p:nvSpPr>
        <p:spPr>
          <a:xfrm>
            <a:off x="5349240" y="2880360"/>
            <a:ext cx="1417320" cy="146304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23" name="Image 8" descr="/home/claude/ppt2/circle_fla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83580" y="3081528"/>
            <a:ext cx="548640" cy="548640"/>
          </a:xfrm>
          <a:prstGeom prst="rect">
            <a:avLst/>
          </a:prstGeom>
        </p:spPr>
      </p:pic>
      <p:pic>
        <p:nvPicPr>
          <p:cNvPr id="24" name="Image 9" descr="/home/claude/ppt2/icon_glob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0740" y="3218688"/>
            <a:ext cx="274320" cy="27432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394960" y="37947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Web/API</a:t>
            </a:r>
            <a:endParaRPr lang="en-US" sz="1100" dirty="0"/>
          </a:p>
        </p:txBody>
      </p:sp>
      <p:sp>
        <p:nvSpPr>
          <p:cNvPr id="26" name="Text 14"/>
          <p:cNvSpPr/>
          <p:nvPr/>
        </p:nvSpPr>
        <p:spPr>
          <a:xfrm>
            <a:off x="54864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to industrial conveyor-belt inspection and automated sorting.</a:t>
            </a:r>
            <a:endParaRPr lang="en-US" sz="1150" dirty="0"/>
          </a:p>
        </p:txBody>
      </p:sp>
      <p:sp>
        <p:nvSpPr>
          <p:cNvPr id="27" name="Text 15"/>
          <p:cNvSpPr/>
          <p:nvPr/>
        </p:nvSpPr>
        <p:spPr>
          <a:xfrm>
            <a:off x="7315200" y="15361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API RESPONSE</a:t>
            </a:r>
            <a:endParaRPr lang="en-US" sz="1050" dirty="0"/>
          </a:p>
        </p:txBody>
      </p:sp>
      <p:sp>
        <p:nvSpPr>
          <p:cNvPr id="28" name="Shape 16"/>
          <p:cNvSpPr/>
          <p:nvPr/>
        </p:nvSpPr>
        <p:spPr>
          <a:xfrm>
            <a:off x="7315200" y="1828800"/>
            <a:ext cx="4343400" cy="2697480"/>
          </a:xfrm>
          <a:prstGeom prst="roundRect">
            <a:avLst>
              <a:gd name="adj" fmla="val 2373"/>
            </a:avLst>
          </a:prstGeom>
          <a:solidFill>
            <a:srgbClr val="0C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9" name="Text 17"/>
          <p:cNvSpPr/>
          <p:nvPr/>
        </p:nvSpPr>
        <p:spPr>
          <a:xfrm>
            <a:off x="7516368" y="1975104"/>
            <a:ext cx="3941064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B9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B9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"class": "cylinder",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B9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"bbox": [x1, y1, x2, y2],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B9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"confidence": 0.97,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B9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"inference_ms": 42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B9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pic>
        <p:nvPicPr>
          <p:cNvPr id="30" name="Image 10" descr="/home/claude/ppt2/button_gra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5532120"/>
            <a:ext cx="11091672" cy="658368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868680" y="553212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</a:t>
            </a:r>
            <a:endParaRPr lang="en-US" sz="1050" dirty="0"/>
          </a:p>
        </p:txBody>
      </p:sp>
      <p:sp>
        <p:nvSpPr>
          <p:cNvPr id="32" name="Text 19"/>
          <p:cNvSpPr/>
          <p:nvPr/>
        </p:nvSpPr>
        <p:spPr>
          <a:xfrm>
            <a:off x="3200400" y="553212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hazardous-object-detection.onrender.com</a:t>
            </a:r>
            <a:endParaRPr lang="en-US" sz="1400" dirty="0"/>
          </a:p>
        </p:txBody>
      </p:sp>
      <p:sp>
        <p:nvSpPr>
          <p:cNvPr id="33" name="Text 20"/>
          <p:cNvSpPr/>
          <p:nvPr/>
        </p:nvSpPr>
        <p:spPr>
          <a:xfrm>
            <a:off x="111099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2/glow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560320" y="-2560320"/>
            <a:ext cx="4754880" cy="4754880"/>
          </a:xfrm>
          <a:prstGeom prst="rect">
            <a:avLst/>
          </a:prstGeom>
        </p:spPr>
      </p:pic>
      <p:pic>
        <p:nvPicPr>
          <p:cNvPr id="3" name="Image 1" descr="/home/claude/ppt2/glow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206240"/>
            <a:ext cx="4754880" cy="47548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10-step roadmap from raw data to live deployment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828800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58368" y="1920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pic>
        <p:nvPicPr>
          <p:cNvPr id="8" name="Image 2" descr="/home/claude/ppt2/circle_fl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195" y="2286000"/>
            <a:ext cx="502920" cy="502920"/>
          </a:xfrm>
          <a:prstGeom prst="rect">
            <a:avLst/>
          </a:prstGeom>
        </p:spPr>
      </p:pic>
      <p:pic>
        <p:nvPicPr>
          <p:cNvPr id="9" name="Image 3" descr="/home/claude/ppt2/icon_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925" y="2411730"/>
            <a:ext cx="251460" cy="2514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21792" y="2926080"/>
            <a:ext cx="192572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50" dirty="0"/>
          </a:p>
        </p:txBody>
      </p:sp>
      <p:sp>
        <p:nvSpPr>
          <p:cNvPr id="11" name="Text 5"/>
          <p:cNvSpPr/>
          <p:nvPr/>
        </p:nvSpPr>
        <p:spPr>
          <a:xfrm>
            <a:off x="621792" y="3246120"/>
            <a:ext cx="19257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~205 images</a:t>
            </a:r>
            <a:endParaRPr lang="en-US" sz="950" dirty="0"/>
          </a:p>
        </p:txBody>
      </p:sp>
      <p:sp>
        <p:nvSpPr>
          <p:cNvPr id="12" name="Shape 6"/>
          <p:cNvSpPr/>
          <p:nvPr/>
        </p:nvSpPr>
        <p:spPr>
          <a:xfrm>
            <a:off x="2593238" y="2532888"/>
            <a:ext cx="237744" cy="146304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13" name="Shape 7"/>
          <p:cNvSpPr/>
          <p:nvPr/>
        </p:nvSpPr>
        <p:spPr>
          <a:xfrm>
            <a:off x="2803550" y="1828800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2913278" y="1920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pic>
        <p:nvPicPr>
          <p:cNvPr id="15" name="Image 4" descr="/home/claude/ppt2/circle_fla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8106" y="2286000"/>
            <a:ext cx="502920" cy="502920"/>
          </a:xfrm>
          <a:prstGeom prst="rect">
            <a:avLst/>
          </a:prstGeom>
        </p:spPr>
      </p:pic>
      <p:pic>
        <p:nvPicPr>
          <p:cNvPr id="16" name="Image 5" descr="/home/claude/ppt2/icon_tag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3836" y="2411730"/>
            <a:ext cx="251460" cy="25146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2876702" y="2926080"/>
            <a:ext cx="192572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</a:t>
            </a:r>
            <a:endParaRPr lang="en-US" sz="1150" dirty="0"/>
          </a:p>
        </p:txBody>
      </p:sp>
      <p:sp>
        <p:nvSpPr>
          <p:cNvPr id="18" name="Text 10"/>
          <p:cNvSpPr/>
          <p:nvPr/>
        </p:nvSpPr>
        <p:spPr>
          <a:xfrm>
            <a:off x="2876702" y="3246120"/>
            <a:ext cx="19257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format</a:t>
            </a:r>
            <a:endParaRPr lang="en-US" sz="950" dirty="0"/>
          </a:p>
        </p:txBody>
      </p:sp>
      <p:sp>
        <p:nvSpPr>
          <p:cNvPr id="19" name="Shape 11"/>
          <p:cNvSpPr/>
          <p:nvPr/>
        </p:nvSpPr>
        <p:spPr>
          <a:xfrm>
            <a:off x="4848149" y="2532888"/>
            <a:ext cx="237744" cy="146304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20" name="Shape 12"/>
          <p:cNvSpPr/>
          <p:nvPr/>
        </p:nvSpPr>
        <p:spPr>
          <a:xfrm>
            <a:off x="5058461" y="1828800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5168189" y="1920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pic>
        <p:nvPicPr>
          <p:cNvPr id="22" name="Image 6" descr="/home/claude/ppt2/circle_fla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3016" y="2286000"/>
            <a:ext cx="502920" cy="502920"/>
          </a:xfrm>
          <a:prstGeom prst="rect">
            <a:avLst/>
          </a:prstGeom>
        </p:spPr>
      </p:pic>
      <p:pic>
        <p:nvPicPr>
          <p:cNvPr id="23" name="Image 7" descr="/home/claude/ppt2/icon_slider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8746" y="2411730"/>
            <a:ext cx="251460" cy="25146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131613" y="2926080"/>
            <a:ext cx="192572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150" dirty="0"/>
          </a:p>
        </p:txBody>
      </p:sp>
      <p:sp>
        <p:nvSpPr>
          <p:cNvPr id="25" name="Text 15"/>
          <p:cNvSpPr/>
          <p:nvPr/>
        </p:nvSpPr>
        <p:spPr>
          <a:xfrm>
            <a:off x="5131613" y="3246120"/>
            <a:ext cx="19257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1,798 imgs</a:t>
            </a:r>
            <a:endParaRPr lang="en-US" sz="950" dirty="0"/>
          </a:p>
        </p:txBody>
      </p:sp>
      <p:sp>
        <p:nvSpPr>
          <p:cNvPr id="26" name="Shape 16"/>
          <p:cNvSpPr/>
          <p:nvPr/>
        </p:nvSpPr>
        <p:spPr>
          <a:xfrm>
            <a:off x="7103059" y="2532888"/>
            <a:ext cx="237744" cy="146304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27" name="Shape 17"/>
          <p:cNvSpPr/>
          <p:nvPr/>
        </p:nvSpPr>
        <p:spPr>
          <a:xfrm>
            <a:off x="7313371" y="1828800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8" name="Text 18"/>
          <p:cNvSpPr/>
          <p:nvPr/>
        </p:nvSpPr>
        <p:spPr>
          <a:xfrm>
            <a:off x="7423099" y="1920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pic>
        <p:nvPicPr>
          <p:cNvPr id="29" name="Image 8" descr="/home/claude/ppt2/circle_fla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7926" y="2286000"/>
            <a:ext cx="502920" cy="502920"/>
          </a:xfrm>
          <a:prstGeom prst="rect">
            <a:avLst/>
          </a:prstGeom>
        </p:spPr>
      </p:pic>
      <p:pic>
        <p:nvPicPr>
          <p:cNvPr id="30" name="Image 9" descr="/home/claude/ppt2/icon_spli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3656" y="2411730"/>
            <a:ext cx="251460" cy="25146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7386523" y="2926080"/>
            <a:ext cx="192572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50" dirty="0"/>
          </a:p>
        </p:txBody>
      </p:sp>
      <p:sp>
        <p:nvSpPr>
          <p:cNvPr id="32" name="Text 20"/>
          <p:cNvSpPr/>
          <p:nvPr/>
        </p:nvSpPr>
        <p:spPr>
          <a:xfrm>
            <a:off x="7386523" y="3246120"/>
            <a:ext cx="19257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</a:t>
            </a:r>
            <a:endParaRPr lang="en-US" sz="950" dirty="0"/>
          </a:p>
        </p:txBody>
      </p:sp>
      <p:sp>
        <p:nvSpPr>
          <p:cNvPr id="33" name="Shape 21"/>
          <p:cNvSpPr/>
          <p:nvPr/>
        </p:nvSpPr>
        <p:spPr>
          <a:xfrm>
            <a:off x="9357970" y="2532888"/>
            <a:ext cx="237744" cy="146304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34" name="Shape 22"/>
          <p:cNvSpPr/>
          <p:nvPr/>
        </p:nvSpPr>
        <p:spPr>
          <a:xfrm>
            <a:off x="9568282" y="1828800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5" name="Text 23"/>
          <p:cNvSpPr/>
          <p:nvPr/>
        </p:nvSpPr>
        <p:spPr>
          <a:xfrm>
            <a:off x="9678010" y="1920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pic>
        <p:nvPicPr>
          <p:cNvPr id="36" name="Image 10" descr="/home/claude/ppt2/circle_fla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52837" y="2286000"/>
            <a:ext cx="502920" cy="502920"/>
          </a:xfrm>
          <a:prstGeom prst="rect">
            <a:avLst/>
          </a:prstGeom>
        </p:spPr>
      </p:pic>
      <p:pic>
        <p:nvPicPr>
          <p:cNvPr id="37" name="Image 11" descr="/home/claude/ppt2/icon_cub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78567" y="2411730"/>
            <a:ext cx="251460" cy="251460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9641434" y="2926080"/>
            <a:ext cx="192572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</a:t>
            </a:r>
            <a:endParaRPr lang="en-US" sz="1150" dirty="0"/>
          </a:p>
        </p:txBody>
      </p:sp>
      <p:sp>
        <p:nvSpPr>
          <p:cNvPr id="39" name="Text 25"/>
          <p:cNvSpPr/>
          <p:nvPr/>
        </p:nvSpPr>
        <p:spPr>
          <a:xfrm>
            <a:off x="9641434" y="3246120"/>
            <a:ext cx="19257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</a:t>
            </a:r>
            <a:endParaRPr lang="en-US" sz="950" dirty="0"/>
          </a:p>
        </p:txBody>
      </p:sp>
      <p:sp>
        <p:nvSpPr>
          <p:cNvPr id="40" name="Shape 26"/>
          <p:cNvSpPr/>
          <p:nvPr/>
        </p:nvSpPr>
        <p:spPr>
          <a:xfrm>
            <a:off x="548640" y="4069080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41" name="Text 27"/>
          <p:cNvSpPr/>
          <p:nvPr/>
        </p:nvSpPr>
        <p:spPr>
          <a:xfrm>
            <a:off x="658368" y="4160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pic>
        <p:nvPicPr>
          <p:cNvPr id="42" name="Image 12" descr="/home/claude/ppt2/circle_fla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33195" y="4526280"/>
            <a:ext cx="502920" cy="502920"/>
          </a:xfrm>
          <a:prstGeom prst="rect">
            <a:avLst/>
          </a:prstGeom>
        </p:spPr>
      </p:pic>
      <p:pic>
        <p:nvPicPr>
          <p:cNvPr id="43" name="Image 13" descr="/home/claude/ppt2/icon_cogs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58925" y="4652010"/>
            <a:ext cx="251460" cy="251460"/>
          </a:xfrm>
          <a:prstGeom prst="rect">
            <a:avLst/>
          </a:prstGeom>
        </p:spPr>
      </p:pic>
      <p:sp>
        <p:nvSpPr>
          <p:cNvPr id="44" name="Text 28"/>
          <p:cNvSpPr/>
          <p:nvPr/>
        </p:nvSpPr>
        <p:spPr>
          <a:xfrm>
            <a:off x="621792" y="5166360"/>
            <a:ext cx="192572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50" dirty="0"/>
          </a:p>
        </p:txBody>
      </p:sp>
      <p:sp>
        <p:nvSpPr>
          <p:cNvPr id="45" name="Text 29"/>
          <p:cNvSpPr/>
          <p:nvPr/>
        </p:nvSpPr>
        <p:spPr>
          <a:xfrm>
            <a:off x="621792" y="5486400"/>
            <a:ext cx="19257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epochs</a:t>
            </a:r>
            <a:endParaRPr lang="en-US" sz="950" dirty="0"/>
          </a:p>
        </p:txBody>
      </p:sp>
      <p:sp>
        <p:nvSpPr>
          <p:cNvPr id="46" name="Shape 30"/>
          <p:cNvSpPr/>
          <p:nvPr/>
        </p:nvSpPr>
        <p:spPr>
          <a:xfrm>
            <a:off x="2593238" y="4773168"/>
            <a:ext cx="237744" cy="146304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47" name="Shape 31"/>
          <p:cNvSpPr/>
          <p:nvPr/>
        </p:nvSpPr>
        <p:spPr>
          <a:xfrm>
            <a:off x="2803550" y="4069080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48" name="Text 32"/>
          <p:cNvSpPr/>
          <p:nvPr/>
        </p:nvSpPr>
        <p:spPr>
          <a:xfrm>
            <a:off x="2913278" y="4160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pic>
        <p:nvPicPr>
          <p:cNvPr id="49" name="Image 14" descr="/home/claude/ppt2/circle_flat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88106" y="4526280"/>
            <a:ext cx="502920" cy="502920"/>
          </a:xfrm>
          <a:prstGeom prst="rect">
            <a:avLst/>
          </a:prstGeom>
        </p:spPr>
      </p:pic>
      <p:pic>
        <p:nvPicPr>
          <p:cNvPr id="50" name="Image 15" descr="/home/claude/ppt2/icon_chart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13836" y="4652010"/>
            <a:ext cx="251460" cy="251460"/>
          </a:xfrm>
          <a:prstGeom prst="rect">
            <a:avLst/>
          </a:prstGeom>
        </p:spPr>
      </p:pic>
      <p:sp>
        <p:nvSpPr>
          <p:cNvPr id="51" name="Text 33"/>
          <p:cNvSpPr/>
          <p:nvPr/>
        </p:nvSpPr>
        <p:spPr>
          <a:xfrm>
            <a:off x="2876702" y="5166360"/>
            <a:ext cx="192572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52" name="Text 34"/>
          <p:cNvSpPr/>
          <p:nvPr/>
        </p:nvSpPr>
        <p:spPr>
          <a:xfrm>
            <a:off x="2876702" y="5486400"/>
            <a:ext cx="19257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metrics</a:t>
            </a:r>
            <a:endParaRPr lang="en-US" sz="950" dirty="0"/>
          </a:p>
        </p:txBody>
      </p:sp>
      <p:sp>
        <p:nvSpPr>
          <p:cNvPr id="53" name="Shape 35"/>
          <p:cNvSpPr/>
          <p:nvPr/>
        </p:nvSpPr>
        <p:spPr>
          <a:xfrm>
            <a:off x="4848149" y="4773168"/>
            <a:ext cx="237744" cy="146304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54" name="Shape 36"/>
          <p:cNvSpPr/>
          <p:nvPr/>
        </p:nvSpPr>
        <p:spPr>
          <a:xfrm>
            <a:off x="5058461" y="4069080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55" name="Text 37"/>
          <p:cNvSpPr/>
          <p:nvPr/>
        </p:nvSpPr>
        <p:spPr>
          <a:xfrm>
            <a:off x="5168189" y="4160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pic>
        <p:nvPicPr>
          <p:cNvPr id="56" name="Image 16" descr="/home/claude/ppt2/circle_flat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43016" y="4526280"/>
            <a:ext cx="502920" cy="502920"/>
          </a:xfrm>
          <a:prstGeom prst="rect">
            <a:avLst/>
          </a:prstGeom>
        </p:spPr>
      </p:pic>
      <p:pic>
        <p:nvPicPr>
          <p:cNvPr id="57" name="Image 17" descr="/home/claude/ppt2/icon_rocket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68746" y="4652010"/>
            <a:ext cx="251460" cy="251460"/>
          </a:xfrm>
          <a:prstGeom prst="rect">
            <a:avLst/>
          </a:prstGeom>
        </p:spPr>
      </p:pic>
      <p:sp>
        <p:nvSpPr>
          <p:cNvPr id="58" name="Text 38"/>
          <p:cNvSpPr/>
          <p:nvPr/>
        </p:nvSpPr>
        <p:spPr>
          <a:xfrm>
            <a:off x="5131613" y="5166360"/>
            <a:ext cx="192572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59" name="Text 39"/>
          <p:cNvSpPr/>
          <p:nvPr/>
        </p:nvSpPr>
        <p:spPr>
          <a:xfrm>
            <a:off x="5131613" y="5486400"/>
            <a:ext cx="19257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950" dirty="0"/>
          </a:p>
        </p:txBody>
      </p:sp>
      <p:sp>
        <p:nvSpPr>
          <p:cNvPr id="60" name="Shape 40"/>
          <p:cNvSpPr/>
          <p:nvPr/>
        </p:nvSpPr>
        <p:spPr>
          <a:xfrm>
            <a:off x="7103059" y="4773168"/>
            <a:ext cx="237744" cy="146304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61" name="Shape 41"/>
          <p:cNvSpPr/>
          <p:nvPr/>
        </p:nvSpPr>
        <p:spPr>
          <a:xfrm>
            <a:off x="7313371" y="4069080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62" name="Text 42"/>
          <p:cNvSpPr/>
          <p:nvPr/>
        </p:nvSpPr>
        <p:spPr>
          <a:xfrm>
            <a:off x="7423099" y="4160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pic>
        <p:nvPicPr>
          <p:cNvPr id="63" name="Image 18" descr="/home/claude/ppt2/circle_flat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97926" y="4526280"/>
            <a:ext cx="502920" cy="502920"/>
          </a:xfrm>
          <a:prstGeom prst="rect">
            <a:avLst/>
          </a:prstGeom>
        </p:spPr>
      </p:pic>
      <p:pic>
        <p:nvPicPr>
          <p:cNvPr id="64" name="Image 19" descr="/home/claude/ppt2/icon_globe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23656" y="4652010"/>
            <a:ext cx="251460" cy="251460"/>
          </a:xfrm>
          <a:prstGeom prst="rect">
            <a:avLst/>
          </a:prstGeom>
        </p:spPr>
      </p:pic>
      <p:sp>
        <p:nvSpPr>
          <p:cNvPr id="65" name="Text 43"/>
          <p:cNvSpPr/>
          <p:nvPr/>
        </p:nvSpPr>
        <p:spPr>
          <a:xfrm>
            <a:off x="7386523" y="5166360"/>
            <a:ext cx="192572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150" dirty="0"/>
          </a:p>
        </p:txBody>
      </p:sp>
      <p:sp>
        <p:nvSpPr>
          <p:cNvPr id="66" name="Text 44"/>
          <p:cNvSpPr/>
          <p:nvPr/>
        </p:nvSpPr>
        <p:spPr>
          <a:xfrm>
            <a:off x="7386523" y="5486400"/>
            <a:ext cx="19257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950" dirty="0"/>
          </a:p>
        </p:txBody>
      </p:sp>
      <p:sp>
        <p:nvSpPr>
          <p:cNvPr id="67" name="Shape 45"/>
          <p:cNvSpPr/>
          <p:nvPr/>
        </p:nvSpPr>
        <p:spPr>
          <a:xfrm>
            <a:off x="9357970" y="4773168"/>
            <a:ext cx="237744" cy="146304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68" name="Shape 46"/>
          <p:cNvSpPr/>
          <p:nvPr/>
        </p:nvSpPr>
        <p:spPr>
          <a:xfrm>
            <a:off x="9568282" y="4069080"/>
            <a:ext cx="2072030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69" name="Text 47"/>
          <p:cNvSpPr/>
          <p:nvPr/>
        </p:nvSpPr>
        <p:spPr>
          <a:xfrm>
            <a:off x="9678010" y="4160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pic>
        <p:nvPicPr>
          <p:cNvPr id="70" name="Image 20" descr="/home/claude/ppt2/circle_flat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52837" y="4526280"/>
            <a:ext cx="502920" cy="502920"/>
          </a:xfrm>
          <a:prstGeom prst="rect">
            <a:avLst/>
          </a:prstGeom>
        </p:spPr>
      </p:pic>
      <p:pic>
        <p:nvPicPr>
          <p:cNvPr id="71" name="Image 21" descr="/home/claude/ppt2/icon_video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78567" y="4652010"/>
            <a:ext cx="251460" cy="251460"/>
          </a:xfrm>
          <a:prstGeom prst="rect">
            <a:avLst/>
          </a:prstGeom>
        </p:spPr>
      </p:pic>
      <p:sp>
        <p:nvSpPr>
          <p:cNvPr id="72" name="Text 48"/>
          <p:cNvSpPr/>
          <p:nvPr/>
        </p:nvSpPr>
        <p:spPr>
          <a:xfrm>
            <a:off x="9641434" y="5166360"/>
            <a:ext cx="192572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50" dirty="0"/>
          </a:p>
        </p:txBody>
      </p:sp>
      <p:sp>
        <p:nvSpPr>
          <p:cNvPr id="73" name="Text 49"/>
          <p:cNvSpPr/>
          <p:nvPr/>
        </p:nvSpPr>
        <p:spPr>
          <a:xfrm>
            <a:off x="9641434" y="5486400"/>
            <a:ext cx="19257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Webcam/CCTV</a:t>
            </a:r>
            <a:endParaRPr lang="en-US" sz="950" dirty="0"/>
          </a:p>
        </p:txBody>
      </p:sp>
      <p:sp>
        <p:nvSpPr>
          <p:cNvPr id="74" name="Text 50"/>
          <p:cNvSpPr/>
          <p:nvPr/>
        </p:nvSpPr>
        <p:spPr>
          <a:xfrm>
            <a:off x="111099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2/glow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377440" y="3108960"/>
            <a:ext cx="4937760" cy="4937760"/>
          </a:xfrm>
          <a:prstGeom prst="rect">
            <a:avLst/>
          </a:prstGeom>
        </p:spPr>
      </p:pic>
      <p:pic>
        <p:nvPicPr>
          <p:cNvPr id="3" name="Image 1" descr="/home/claude/ppt2/glow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-2194560"/>
            <a:ext cx="4937760" cy="4937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04A  ·  METHODOLOGY — STEPS 1–2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 and bounding-box annotation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78308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7" name="Image 2" descr="/home/claude/ppt2/bar_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778508"/>
            <a:ext cx="5093208" cy="41148"/>
          </a:xfrm>
          <a:prstGeom prst="rect">
            <a:avLst/>
          </a:prstGeom>
        </p:spPr>
      </p:pic>
      <p:pic>
        <p:nvPicPr>
          <p:cNvPr id="8" name="Image 3" descr="/home/claude/ppt2/circle_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103120"/>
            <a:ext cx="621792" cy="621792"/>
          </a:xfrm>
          <a:prstGeom prst="rect">
            <a:avLst/>
          </a:prstGeom>
        </p:spPr>
      </p:pic>
      <p:pic>
        <p:nvPicPr>
          <p:cNvPr id="9" name="Image 4" descr="/home/claude/ppt2/icon_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2258568"/>
            <a:ext cx="310896" cy="310896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86868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Collection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868680" y="324612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hazardous-waste image dataset was assembled covering the two target classes prior to any augmentation.</a:t>
            </a:r>
            <a:endParaRPr lang="en-US" sz="1200" dirty="0"/>
          </a:p>
        </p:txBody>
      </p:sp>
      <p:sp>
        <p:nvSpPr>
          <p:cNvPr id="12" name="Text 5"/>
          <p:cNvSpPr/>
          <p:nvPr/>
        </p:nvSpPr>
        <p:spPr>
          <a:xfrm>
            <a:off x="868680" y="39776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</a:t>
            </a:r>
            <a:endParaRPr lang="en-US" sz="4000" dirty="0"/>
          </a:p>
        </p:txBody>
      </p:sp>
      <p:sp>
        <p:nvSpPr>
          <p:cNvPr id="13" name="Text 6"/>
          <p:cNvSpPr/>
          <p:nvPr/>
        </p:nvSpPr>
        <p:spPr>
          <a:xfrm>
            <a:off x="86868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IMAGES COLLECTED</a:t>
            </a:r>
            <a:endParaRPr lang="en-US" sz="950" dirty="0"/>
          </a:p>
        </p:txBody>
      </p:sp>
      <p:sp>
        <p:nvSpPr>
          <p:cNvPr id="14" name="Shape 7"/>
          <p:cNvSpPr/>
          <p:nvPr/>
        </p:nvSpPr>
        <p:spPr>
          <a:xfrm>
            <a:off x="868680" y="5029200"/>
            <a:ext cx="470916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868680" y="51389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Classes</a:t>
            </a:r>
            <a:endParaRPr lang="en-US" sz="1050" dirty="0"/>
          </a:p>
        </p:txBody>
      </p:sp>
      <p:sp>
        <p:nvSpPr>
          <p:cNvPr id="16" name="Shape 9"/>
          <p:cNvSpPr/>
          <p:nvPr/>
        </p:nvSpPr>
        <p:spPr>
          <a:xfrm>
            <a:off x="868680" y="544068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0C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78408" y="54406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0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Absorber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3246120" y="544068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0C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3355848" y="54406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1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Cylinder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6172200" y="17830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ANNOTATION FORMAT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6172200" y="2103120"/>
            <a:ext cx="5440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were annotated with bounding boxes in YOLO-compatible format: class ID plus normalized center-x, center-y, width, and height.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6172200" y="297180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0C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6373368" y="3118104"/>
            <a:ext cx="50383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778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image_014.txt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0  0.512  0.487  0.220  0.365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1  0.183  0.622  0.140  0.310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6172200" y="452628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class_id   x_center   y_center   width   height   (all normalized 0–1)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6172200" y="498348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26" name="Image 5" descr="/home/claude/ppt2/bar_gra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4978908"/>
            <a:ext cx="5184648" cy="41148"/>
          </a:xfrm>
          <a:prstGeom prst="rect">
            <a:avLst/>
          </a:prstGeom>
        </p:spPr>
      </p:pic>
      <p:pic>
        <p:nvPicPr>
          <p:cNvPr id="27" name="Image 6" descr="/home/claude/ppt2/circle_fla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5193792"/>
            <a:ext cx="457200" cy="457200"/>
          </a:xfrm>
          <a:prstGeom prst="rect">
            <a:avLst/>
          </a:prstGeom>
        </p:spPr>
      </p:pic>
      <p:pic>
        <p:nvPicPr>
          <p:cNvPr id="28" name="Image 7" descr="/home/claude/ppt2/icon_clipboar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5308092"/>
            <a:ext cx="228600" cy="2286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995160" y="50749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 in every image was manually labeled and verified before export, ensuring consistent, high-quality ground truth for training.</a:t>
            </a:r>
            <a:endParaRPr lang="en-US" sz="1050" dirty="0"/>
          </a:p>
        </p:txBody>
      </p:sp>
      <p:sp>
        <p:nvSpPr>
          <p:cNvPr id="30" name="Text 20"/>
          <p:cNvSpPr/>
          <p:nvPr/>
        </p:nvSpPr>
        <p:spPr>
          <a:xfrm>
            <a:off x="111099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2/glow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560320" y="-2560320"/>
            <a:ext cx="4754880" cy="4754880"/>
          </a:xfrm>
          <a:prstGeom prst="rect">
            <a:avLst/>
          </a:prstGeom>
        </p:spPr>
      </p:pic>
      <p:pic>
        <p:nvPicPr>
          <p:cNvPr id="3" name="Image 1" descr="/home/claude/ppt2/glow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206240"/>
            <a:ext cx="4754880" cy="47548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04B  ·  METHODOLOGY — STEP 3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and augmentation with Roboflow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548640" y="153619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Auto-Orient applied, then all images resized (stretch) to 640 × 640 before augmentation.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548640" y="2057400"/>
            <a:ext cx="3566160" cy="3063240"/>
          </a:xfrm>
          <a:prstGeom prst="roundRect">
            <a:avLst>
              <a:gd name="adj" fmla="val 2687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8" name="Image 2" descr="/home/claude/ppt2/bar_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052828"/>
            <a:ext cx="3310128" cy="41148"/>
          </a:xfrm>
          <a:prstGeom prst="rect">
            <a:avLst/>
          </a:prstGeom>
        </p:spPr>
      </p:pic>
      <p:pic>
        <p:nvPicPr>
          <p:cNvPr id="9" name="Image 3" descr="/home/claude/ppt2/circle_fl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258568"/>
            <a:ext cx="548640" cy="548640"/>
          </a:xfrm>
          <a:prstGeom prst="rect">
            <a:avLst/>
          </a:prstGeom>
        </p:spPr>
      </p:pic>
      <p:pic>
        <p:nvPicPr>
          <p:cNvPr id="10" name="Image 4" descr="/home/claude/ppt2/icon_slid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2395728"/>
            <a:ext cx="274320" cy="27432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417320" y="23134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 Set 1</a:t>
            </a:r>
            <a:endParaRPr lang="en-US" sz="1350" dirty="0"/>
          </a:p>
        </p:txBody>
      </p:sp>
      <p:sp>
        <p:nvSpPr>
          <p:cNvPr id="12" name="Shape 5"/>
          <p:cNvSpPr/>
          <p:nvPr/>
        </p:nvSpPr>
        <p:spPr>
          <a:xfrm>
            <a:off x="777240" y="3063240"/>
            <a:ext cx="73152" cy="7315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6"/>
          <p:cNvSpPr/>
          <p:nvPr/>
        </p:nvSpPr>
        <p:spPr>
          <a:xfrm>
            <a:off x="932688" y="2971800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outputs / example</a:t>
            </a:r>
            <a:endParaRPr lang="en-US" sz="1100" dirty="0"/>
          </a:p>
        </p:txBody>
      </p:sp>
      <p:sp>
        <p:nvSpPr>
          <p:cNvPr id="14" name="Shape 7"/>
          <p:cNvSpPr/>
          <p:nvPr/>
        </p:nvSpPr>
        <p:spPr>
          <a:xfrm>
            <a:off x="777240" y="3502152"/>
            <a:ext cx="73152" cy="7315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8"/>
          <p:cNvSpPr/>
          <p:nvPr/>
        </p:nvSpPr>
        <p:spPr>
          <a:xfrm>
            <a:off x="932688" y="3410712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 rotation (CW, CCW, 180°)</a:t>
            </a:r>
            <a:endParaRPr lang="en-US" sz="1100" dirty="0"/>
          </a:p>
        </p:txBody>
      </p:sp>
      <p:sp>
        <p:nvSpPr>
          <p:cNvPr id="16" name="Shape 9"/>
          <p:cNvSpPr/>
          <p:nvPr/>
        </p:nvSpPr>
        <p:spPr>
          <a:xfrm>
            <a:off x="777240" y="3941064"/>
            <a:ext cx="73152" cy="7315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0"/>
          <p:cNvSpPr/>
          <p:nvPr/>
        </p:nvSpPr>
        <p:spPr>
          <a:xfrm>
            <a:off x="932688" y="3849624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±14%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777240" y="4379976"/>
            <a:ext cx="73152" cy="7315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9" name="Text 12"/>
          <p:cNvSpPr/>
          <p:nvPr/>
        </p:nvSpPr>
        <p:spPr>
          <a:xfrm>
            <a:off x="932688" y="4288536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up to 1.98% of pixels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4315968" y="2057400"/>
            <a:ext cx="3566160" cy="3063240"/>
          </a:xfrm>
          <a:prstGeom prst="roundRect">
            <a:avLst>
              <a:gd name="adj" fmla="val 2687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21" name="Image 5" descr="/home/claude/ppt2/bar_gra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3984" y="2052828"/>
            <a:ext cx="3310128" cy="41148"/>
          </a:xfrm>
          <a:prstGeom prst="rect">
            <a:avLst/>
          </a:prstGeom>
        </p:spPr>
      </p:pic>
      <p:pic>
        <p:nvPicPr>
          <p:cNvPr id="22" name="Image 6" descr="/home/claude/ppt2/circle_fla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7136" y="2258568"/>
            <a:ext cx="548640" cy="548640"/>
          </a:xfrm>
          <a:prstGeom prst="rect">
            <a:avLst/>
          </a:prstGeom>
        </p:spPr>
      </p:pic>
      <p:pic>
        <p:nvPicPr>
          <p:cNvPr id="23" name="Image 7" descr="/home/claude/ppt2/icon_bol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4296" y="2395728"/>
            <a:ext cx="274320" cy="27432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184648" y="23134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 Set 2</a:t>
            </a:r>
            <a:endParaRPr lang="en-US" sz="1350" dirty="0"/>
          </a:p>
        </p:txBody>
      </p:sp>
      <p:sp>
        <p:nvSpPr>
          <p:cNvPr id="25" name="Shape 15"/>
          <p:cNvSpPr/>
          <p:nvPr/>
        </p:nvSpPr>
        <p:spPr>
          <a:xfrm>
            <a:off x="4544568" y="3063240"/>
            <a:ext cx="73152" cy="7315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6" name="Text 16"/>
          <p:cNvSpPr/>
          <p:nvPr/>
        </p:nvSpPr>
        <p:spPr>
          <a:xfrm>
            <a:off x="4700016" y="2971800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outputs / example</a:t>
            </a:r>
            <a:endParaRPr lang="en-US" sz="1100" dirty="0"/>
          </a:p>
        </p:txBody>
      </p:sp>
      <p:sp>
        <p:nvSpPr>
          <p:cNvPr id="27" name="Shape 17"/>
          <p:cNvSpPr/>
          <p:nvPr/>
        </p:nvSpPr>
        <p:spPr>
          <a:xfrm>
            <a:off x="4544568" y="3502152"/>
            <a:ext cx="73152" cy="7315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8" name="Text 18"/>
          <p:cNvSpPr/>
          <p:nvPr/>
        </p:nvSpPr>
        <p:spPr>
          <a:xfrm>
            <a:off x="4700016" y="3410712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 rotation (CW, CCW, 180°)</a:t>
            </a:r>
            <a:endParaRPr lang="en-US" sz="1100" dirty="0"/>
          </a:p>
        </p:txBody>
      </p:sp>
      <p:sp>
        <p:nvSpPr>
          <p:cNvPr id="29" name="Shape 19"/>
          <p:cNvSpPr/>
          <p:nvPr/>
        </p:nvSpPr>
        <p:spPr>
          <a:xfrm>
            <a:off x="4544568" y="3941064"/>
            <a:ext cx="73152" cy="7315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0" name="Text 20"/>
          <p:cNvSpPr/>
          <p:nvPr/>
        </p:nvSpPr>
        <p:spPr>
          <a:xfrm>
            <a:off x="4700016" y="3849624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±22%</a:t>
            </a:r>
            <a:endParaRPr lang="en-US" sz="1100" dirty="0"/>
          </a:p>
        </p:txBody>
      </p:sp>
      <p:sp>
        <p:nvSpPr>
          <p:cNvPr id="31" name="Shape 21"/>
          <p:cNvSpPr/>
          <p:nvPr/>
        </p:nvSpPr>
        <p:spPr>
          <a:xfrm>
            <a:off x="8083296" y="2057400"/>
            <a:ext cx="3566160" cy="3063240"/>
          </a:xfrm>
          <a:prstGeom prst="roundRect">
            <a:avLst>
              <a:gd name="adj" fmla="val 2687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32" name="Image 8" descr="/home/claude/ppt2/bar_gra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1312" y="2052828"/>
            <a:ext cx="3310128" cy="41148"/>
          </a:xfrm>
          <a:prstGeom prst="rect">
            <a:avLst/>
          </a:prstGeom>
        </p:spPr>
      </p:pic>
      <p:pic>
        <p:nvPicPr>
          <p:cNvPr id="33" name="Image 9" descr="/home/claude/ppt2/circle_fla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4464" y="2258568"/>
            <a:ext cx="548640" cy="548640"/>
          </a:xfrm>
          <a:prstGeom prst="rect">
            <a:avLst/>
          </a:prstGeom>
        </p:spPr>
      </p:pic>
      <p:pic>
        <p:nvPicPr>
          <p:cNvPr id="34" name="Image 10" descr="/home/claude/ppt2/icon_imag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21624" y="2395728"/>
            <a:ext cx="274320" cy="274320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8951976" y="23134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 Set 3</a:t>
            </a:r>
            <a:endParaRPr lang="en-US" sz="1350" dirty="0"/>
          </a:p>
        </p:txBody>
      </p:sp>
      <p:sp>
        <p:nvSpPr>
          <p:cNvPr id="36" name="Shape 23"/>
          <p:cNvSpPr/>
          <p:nvPr/>
        </p:nvSpPr>
        <p:spPr>
          <a:xfrm>
            <a:off x="8311896" y="3063240"/>
            <a:ext cx="73152" cy="7315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7" name="Text 24"/>
          <p:cNvSpPr/>
          <p:nvPr/>
        </p:nvSpPr>
        <p:spPr>
          <a:xfrm>
            <a:off x="8467344" y="2971800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outputs / example</a:t>
            </a:r>
            <a:endParaRPr lang="en-US" sz="1100" dirty="0"/>
          </a:p>
        </p:txBody>
      </p:sp>
      <p:sp>
        <p:nvSpPr>
          <p:cNvPr id="38" name="Shape 25"/>
          <p:cNvSpPr/>
          <p:nvPr/>
        </p:nvSpPr>
        <p:spPr>
          <a:xfrm>
            <a:off x="8311896" y="3502152"/>
            <a:ext cx="73152" cy="7315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9" name="Text 26"/>
          <p:cNvSpPr/>
          <p:nvPr/>
        </p:nvSpPr>
        <p:spPr>
          <a:xfrm>
            <a:off x="8467344" y="3410712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 rotation (CW, CCW, 180°)</a:t>
            </a:r>
            <a:endParaRPr lang="en-US" sz="1100" dirty="0"/>
          </a:p>
        </p:txBody>
      </p:sp>
      <p:sp>
        <p:nvSpPr>
          <p:cNvPr id="40" name="Shape 27"/>
          <p:cNvSpPr/>
          <p:nvPr/>
        </p:nvSpPr>
        <p:spPr>
          <a:xfrm>
            <a:off x="8311896" y="3941064"/>
            <a:ext cx="73152" cy="7315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1" name="Text 28"/>
          <p:cNvSpPr/>
          <p:nvPr/>
        </p:nvSpPr>
        <p:spPr>
          <a:xfrm>
            <a:off x="8467344" y="3849624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applied to 15% of images</a:t>
            </a:r>
            <a:endParaRPr lang="en-US" sz="1100" dirty="0"/>
          </a:p>
        </p:txBody>
      </p:sp>
      <p:sp>
        <p:nvSpPr>
          <p:cNvPr id="42" name="Shape 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43" name="Text 30"/>
          <p:cNvSpPr/>
          <p:nvPr/>
        </p:nvSpPr>
        <p:spPr>
          <a:xfrm>
            <a:off x="1005840" y="534924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78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</a:t>
            </a:r>
            <a:endParaRPr lang="en-US" sz="2600" dirty="0"/>
          </a:p>
        </p:txBody>
      </p:sp>
      <p:sp>
        <p:nvSpPr>
          <p:cNvPr id="44" name="Text 31"/>
          <p:cNvSpPr/>
          <p:nvPr/>
        </p:nvSpPr>
        <p:spPr>
          <a:xfrm>
            <a:off x="2377440" y="534924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images</a:t>
            </a:r>
            <a:endParaRPr lang="en-US" sz="1100" dirty="0"/>
          </a:p>
        </p:txBody>
      </p:sp>
      <p:sp>
        <p:nvSpPr>
          <p:cNvPr id="45" name="Shape 32"/>
          <p:cNvSpPr/>
          <p:nvPr/>
        </p:nvSpPr>
        <p:spPr>
          <a:xfrm>
            <a:off x="4114800" y="5715000"/>
            <a:ext cx="274320" cy="164592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46" name="Text 33"/>
          <p:cNvSpPr/>
          <p:nvPr/>
        </p:nvSpPr>
        <p:spPr>
          <a:xfrm>
            <a:off x="4663440" y="534924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1,798</a:t>
            </a:r>
            <a:endParaRPr lang="en-US" sz="2600" dirty="0"/>
          </a:p>
        </p:txBody>
      </p:sp>
      <p:sp>
        <p:nvSpPr>
          <p:cNvPr id="47" name="Text 34"/>
          <p:cNvSpPr/>
          <p:nvPr/>
        </p:nvSpPr>
        <p:spPr>
          <a:xfrm>
            <a:off x="6537960" y="53492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training images  (≈8.8× growth in dataset diversity)</a:t>
            </a:r>
            <a:endParaRPr lang="en-US" sz="1200" dirty="0"/>
          </a:p>
        </p:txBody>
      </p:sp>
      <p:sp>
        <p:nvSpPr>
          <p:cNvPr id="48" name="Text 35"/>
          <p:cNvSpPr/>
          <p:nvPr/>
        </p:nvSpPr>
        <p:spPr>
          <a:xfrm>
            <a:off x="111099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2/glow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377440" y="3108960"/>
            <a:ext cx="4937760" cy="4937760"/>
          </a:xfrm>
          <a:prstGeom prst="rect">
            <a:avLst/>
          </a:prstGeom>
        </p:spPr>
      </p:pic>
      <p:pic>
        <p:nvPicPr>
          <p:cNvPr id="3" name="Image 1" descr="/home/claude/ppt2/glow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-2194560"/>
            <a:ext cx="4937760" cy="4937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04C  ·  METHODOLOGY — STEP 4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/ validation split, performed in Google Colab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548640" y="1536192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handled preprocessing and augmentation only — the final train/validation split was performed separately in Google Colab, after shuffling images with a fixed random seed for reproducibility.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548640" y="278892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8" name="Image 2" descr="/home/claude/ppt2/bar_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784348"/>
            <a:ext cx="5138928" cy="411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296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SPLIT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822960" y="3337560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0C1220"/>
          </a:solidFill>
          <a:ln/>
        </p:spPr>
      </p:sp>
      <p:sp>
        <p:nvSpPr>
          <p:cNvPr id="11" name="Shape 6"/>
          <p:cNvSpPr/>
          <p:nvPr/>
        </p:nvSpPr>
        <p:spPr>
          <a:xfrm>
            <a:off x="822960" y="3337560"/>
            <a:ext cx="3877056" cy="384048"/>
          </a:xfrm>
          <a:prstGeom prst="roundRect">
            <a:avLst>
              <a:gd name="adj" fmla="val 14286"/>
            </a:avLst>
          </a:prstGeom>
          <a:solidFill>
            <a:srgbClr val="22D3EE"/>
          </a:solidFill>
          <a:ln/>
        </p:spPr>
      </p:sp>
      <p:sp>
        <p:nvSpPr>
          <p:cNvPr id="12" name="Text 7"/>
          <p:cNvSpPr/>
          <p:nvPr/>
        </p:nvSpPr>
        <p:spPr>
          <a:xfrm>
            <a:off x="914400" y="33375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892040" y="333756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Val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822960" y="38862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Seed: 42   ·   Images shuffled before split for a representative distribution</a:t>
            </a:r>
            <a:endParaRPr lang="en-US" sz="1050" dirty="0"/>
          </a:p>
        </p:txBody>
      </p:sp>
      <p:pic>
        <p:nvPicPr>
          <p:cNvPr id="15" name="Image 3" descr="/home/claude/ppt2/button_gr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532120"/>
            <a:ext cx="11091672" cy="6583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8680" y="553212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3200400" y="553212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hazardous-object-detection.onrender.com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172200" y="153619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DATA.YAML CONFIGURATION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6172200" y="1828800"/>
            <a:ext cx="5440680" cy="3566160"/>
          </a:xfrm>
          <a:prstGeom prst="roundRect">
            <a:avLst>
              <a:gd name="adj" fmla="val 1795"/>
            </a:avLst>
          </a:prstGeom>
          <a:solidFill>
            <a:srgbClr val="0C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373368" y="1975104"/>
            <a:ext cx="503834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B9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train: ../train/images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B9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val:   ../valid/images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B9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nc: 2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B9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names: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B9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0: 'shock absorber'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B9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1: 'cylinder'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11099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2/glow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560320" y="-2560320"/>
            <a:ext cx="4754880" cy="4754880"/>
          </a:xfrm>
          <a:prstGeom prst="rect">
            <a:avLst/>
          </a:prstGeom>
        </p:spPr>
      </p:pic>
      <p:pic>
        <p:nvPicPr>
          <p:cNvPr id="3" name="Image 1" descr="/home/claude/ppt2/glow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206240"/>
            <a:ext cx="4754880" cy="47548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METHODOLOGY — STEP 5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selection: why YOLOv8s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548640" y="153619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ships in five sizes with a consistent accuracy/speed trade-off. YOLOv8s was chosen as the sweet spot for this project — accurate enough for two well-defined classes, light enough for fast training and real-time inference.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548640" y="2423160"/>
            <a:ext cx="2084832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260604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85800" y="299008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85800" y="33375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3.2M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85800" y="3630168"/>
            <a:ext cx="1810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685800" y="3904488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Fastest, lowest accuracy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779776" y="2423160"/>
            <a:ext cx="2084832" cy="1920240"/>
          </a:xfrm>
          <a:prstGeom prst="roundRect">
            <a:avLst>
              <a:gd name="adj" fmla="val 3810"/>
            </a:avLst>
          </a:prstGeom>
          <a:solidFill>
            <a:srgbClr val="0C1220"/>
          </a:solidFill>
          <a:ln w="22225">
            <a:solidFill>
              <a:srgbClr val="22D3EE"/>
            </a:solidFill>
            <a:prstDash val="solid"/>
          </a:ln>
        </p:spPr>
      </p:sp>
      <p:pic>
        <p:nvPicPr>
          <p:cNvPr id="14" name="Image 2" descr="/home/claude/ppt2/bar_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1216" y="2418588"/>
            <a:ext cx="1901952" cy="365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16936" y="260604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2916936" y="299008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2916936" y="33375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11.2M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16936" y="3630168"/>
            <a:ext cx="1810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2916936" y="3904488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— balanced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010912" y="2423160"/>
            <a:ext cx="2084832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148072" y="260604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YOLOv8m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5148072" y="299008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5148072" y="33375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25.9M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148072" y="3630168"/>
            <a:ext cx="1810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5148072" y="3904488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accuracy, slower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7242048" y="2423160"/>
            <a:ext cx="2084832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379208" y="260604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YOLOv8l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7379208" y="299008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7379208" y="33375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43.7M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7379208" y="3630168"/>
            <a:ext cx="1810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7379208" y="3904488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accuracy, heavy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9473184" y="2423160"/>
            <a:ext cx="2084832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9610344" y="260604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YOLOv8x</a:t>
            </a:r>
            <a:endParaRPr lang="en-US" sz="1500" dirty="0"/>
          </a:p>
        </p:txBody>
      </p:sp>
      <p:sp>
        <p:nvSpPr>
          <p:cNvPr id="34" name="Text 29"/>
          <p:cNvSpPr/>
          <p:nvPr/>
        </p:nvSpPr>
        <p:spPr>
          <a:xfrm>
            <a:off x="9610344" y="299008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X-LARGE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9610344" y="33375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68.2M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9610344" y="3630168"/>
            <a:ext cx="1810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9610344" y="3904488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accuracy, slowest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548640" y="4709160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9" name="Text 34"/>
          <p:cNvSpPr/>
          <p:nvPr/>
        </p:nvSpPr>
        <p:spPr>
          <a:xfrm>
            <a:off x="731520" y="461772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3291840" y="4709160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1" name="Text 36"/>
          <p:cNvSpPr/>
          <p:nvPr/>
        </p:nvSpPr>
        <p:spPr>
          <a:xfrm>
            <a:off x="3474720" y="461772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model size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6035040" y="4709160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3" name="Text 38"/>
          <p:cNvSpPr/>
          <p:nvPr/>
        </p:nvSpPr>
        <p:spPr>
          <a:xfrm>
            <a:off x="6217920" y="461772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training performance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8778240" y="4709160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5" name="Text 40"/>
          <p:cNvSpPr/>
          <p:nvPr/>
        </p:nvSpPr>
        <p:spPr>
          <a:xfrm>
            <a:off x="8961120" y="461772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 capability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548640" y="516636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47" name="Image 3" descr="/home/claude/ppt2/bar_gr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5161788"/>
            <a:ext cx="10835640" cy="41148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822960" y="5166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yolov8s.pt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pretrained on COCO, then fine-tuned on the 2-class hazardous-waste dataset. The model learns both object class and precise spatial location within each frame.</a:t>
            </a:r>
            <a:endParaRPr lang="en-US" sz="1200" dirty="0"/>
          </a:p>
        </p:txBody>
      </p:sp>
      <p:sp>
        <p:nvSpPr>
          <p:cNvPr id="49" name="Text 43"/>
          <p:cNvSpPr/>
          <p:nvPr/>
        </p:nvSpPr>
        <p:spPr>
          <a:xfrm>
            <a:off x="111099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2/glow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377440" y="3108960"/>
            <a:ext cx="4937760" cy="4937760"/>
          </a:xfrm>
          <a:prstGeom prst="rect">
            <a:avLst/>
          </a:prstGeom>
        </p:spPr>
      </p:pic>
      <p:pic>
        <p:nvPicPr>
          <p:cNvPr id="3" name="Image 1" descr="/home/claude/ppt2/glow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-2194560"/>
            <a:ext cx="4937760" cy="4937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METHODOLOGY — STEP 6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configuration and hyperparameters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548640" y="153619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Google Colab with GPU acceleration. Best-performing weights were checkpointed as best.pt and reloaded for final validation and metric calculation.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548640" y="2103120"/>
            <a:ext cx="1741932" cy="96012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58368" y="2194560"/>
            <a:ext cx="15224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658368" y="2487168"/>
            <a:ext cx="1522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2418588" y="2103120"/>
            <a:ext cx="1741932" cy="96012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528316" y="2194560"/>
            <a:ext cx="15224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2528316" y="2487168"/>
            <a:ext cx="1522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288536" y="2103120"/>
            <a:ext cx="1741932" cy="96012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398264" y="2194560"/>
            <a:ext cx="15224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4398264" y="2487168"/>
            <a:ext cx="1522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640 × 640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158484" y="2103120"/>
            <a:ext cx="1741932" cy="96012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68212" y="2194560"/>
            <a:ext cx="15224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6268212" y="2487168"/>
            <a:ext cx="1522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8028432" y="2103120"/>
            <a:ext cx="1741932" cy="96012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138160" y="2194560"/>
            <a:ext cx="15224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8138160" y="2487168"/>
            <a:ext cx="1522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AdamW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9898380" y="2103120"/>
            <a:ext cx="1741932" cy="96012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0008108" y="2194560"/>
            <a:ext cx="15224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LR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10008108" y="2487168"/>
            <a:ext cx="1522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0.001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548640" y="3209544"/>
            <a:ext cx="1741932" cy="96012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58368" y="3300984"/>
            <a:ext cx="15224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658368" y="3593592"/>
            <a:ext cx="1522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2418588" y="3209544"/>
            <a:ext cx="1741932" cy="96012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528316" y="3300984"/>
            <a:ext cx="15224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EPOCHS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2528316" y="3593592"/>
            <a:ext cx="1522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4288536" y="3209544"/>
            <a:ext cx="1741932" cy="96012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398264" y="3300984"/>
            <a:ext cx="15224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4398264" y="3593592"/>
            <a:ext cx="1522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500" dirty="0"/>
          </a:p>
        </p:txBody>
      </p:sp>
      <p:sp>
        <p:nvSpPr>
          <p:cNvPr id="34" name="Shape 30"/>
          <p:cNvSpPr/>
          <p:nvPr/>
        </p:nvSpPr>
        <p:spPr>
          <a:xfrm>
            <a:off x="6158484" y="3209544"/>
            <a:ext cx="1741932" cy="96012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268212" y="3300984"/>
            <a:ext cx="15224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6268212" y="3593592"/>
            <a:ext cx="1522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500" dirty="0"/>
          </a:p>
        </p:txBody>
      </p:sp>
      <p:sp>
        <p:nvSpPr>
          <p:cNvPr id="37" name="Shape 33"/>
          <p:cNvSpPr/>
          <p:nvPr/>
        </p:nvSpPr>
        <p:spPr>
          <a:xfrm>
            <a:off x="8028432" y="3209544"/>
            <a:ext cx="1741932" cy="96012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8138160" y="3300984"/>
            <a:ext cx="15224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8138160" y="3593592"/>
            <a:ext cx="1522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</a:t>
            </a:r>
            <a:endParaRPr lang="en-US" sz="1500" dirty="0"/>
          </a:p>
        </p:txBody>
      </p:sp>
      <p:sp>
        <p:nvSpPr>
          <p:cNvPr id="40" name="Shape 36"/>
          <p:cNvSpPr/>
          <p:nvPr/>
        </p:nvSpPr>
        <p:spPr>
          <a:xfrm>
            <a:off x="9898380" y="3209544"/>
            <a:ext cx="1741932" cy="96012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10008108" y="3300984"/>
            <a:ext cx="15224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50" dirty="0"/>
          </a:p>
        </p:txBody>
      </p:sp>
      <p:sp>
        <p:nvSpPr>
          <p:cNvPr id="42" name="Text 38"/>
          <p:cNvSpPr/>
          <p:nvPr/>
        </p:nvSpPr>
        <p:spPr>
          <a:xfrm>
            <a:off x="10008108" y="3593592"/>
            <a:ext cx="1522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GPU</a:t>
            </a:r>
            <a:endParaRPr lang="en-US" sz="1500" dirty="0"/>
          </a:p>
        </p:txBody>
      </p:sp>
      <p:sp>
        <p:nvSpPr>
          <p:cNvPr id="43" name="Text 39"/>
          <p:cNvSpPr/>
          <p:nvPr/>
        </p:nvSpPr>
        <p:spPr>
          <a:xfrm>
            <a:off x="548640" y="4526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COMMAND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548640" y="480060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0C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749808" y="4946904"/>
            <a:ext cx="499262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B9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ultralytics import YOLO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B9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YOLO('yolov8s.pt')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B9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model.train(data='data.yaml',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B9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epochs=150, imgsz=640, batch=16,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B9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optimizer='AdamW', lr0=0.001)</a:t>
            </a:r>
            <a:endParaRPr lang="en-US" sz="1050" dirty="0"/>
          </a:p>
        </p:txBody>
      </p:sp>
      <p:sp>
        <p:nvSpPr>
          <p:cNvPr id="46" name="Shape 42"/>
          <p:cNvSpPr/>
          <p:nvPr/>
        </p:nvSpPr>
        <p:spPr>
          <a:xfrm>
            <a:off x="6172200" y="4526280"/>
            <a:ext cx="5468112" cy="1691640"/>
          </a:xfrm>
          <a:prstGeom prst="roundRect">
            <a:avLst>
              <a:gd name="adj" fmla="val 4865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47" name="Image 2" descr="/home/claude/ppt2/bar_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4521708"/>
            <a:ext cx="5212080" cy="41148"/>
          </a:xfrm>
          <a:prstGeom prst="rect">
            <a:avLst/>
          </a:prstGeom>
        </p:spPr>
      </p:pic>
      <p:pic>
        <p:nvPicPr>
          <p:cNvPr id="48" name="Image 3" descr="/home/claude/ppt2/circle_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754880"/>
            <a:ext cx="502920" cy="502920"/>
          </a:xfrm>
          <a:prstGeom prst="rect">
            <a:avLst/>
          </a:prstGeom>
        </p:spPr>
      </p:pic>
      <p:pic>
        <p:nvPicPr>
          <p:cNvPr id="49" name="Image 4" descr="/home/claude/ppt2/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6530" y="4880610"/>
            <a:ext cx="251460" cy="251460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7040880" y="47548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Checkpointing</a:t>
            </a:r>
            <a:endParaRPr lang="en-US" sz="1350" dirty="0"/>
          </a:p>
        </p:txBody>
      </p:sp>
      <p:sp>
        <p:nvSpPr>
          <p:cNvPr id="51" name="Text 44"/>
          <p:cNvSpPr/>
          <p:nvPr/>
        </p:nvSpPr>
        <p:spPr>
          <a:xfrm>
            <a:off x="6400800" y="53492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weights saved as best.pt whenever validation performance improves; training halts early if no improvement for 30 epochs (patience).</a:t>
            </a:r>
            <a:endParaRPr lang="en-US" sz="1100" dirty="0"/>
          </a:p>
        </p:txBody>
      </p:sp>
      <p:sp>
        <p:nvSpPr>
          <p:cNvPr id="52" name="Text 45"/>
          <p:cNvSpPr/>
          <p:nvPr/>
        </p:nvSpPr>
        <p:spPr>
          <a:xfrm>
            <a:off x="111099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2/glow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560320" y="-2560320"/>
            <a:ext cx="4754880" cy="4754880"/>
          </a:xfrm>
          <a:prstGeom prst="rect">
            <a:avLst/>
          </a:prstGeom>
        </p:spPr>
      </p:pic>
      <p:pic>
        <p:nvPicPr>
          <p:cNvPr id="3" name="Image 1" descr="/home/claude/ppt2/glow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206240"/>
            <a:ext cx="4754880" cy="47548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METHODOLOGY — STEP 7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 on best.pt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78308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7" name="Image 2" descr="/home/claude/ppt2/bar_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778508"/>
            <a:ext cx="3310128" cy="4114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7240" y="1965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777240" y="222199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0.9845</a:t>
            </a:r>
            <a:endParaRPr lang="en-US" sz="3600" dirty="0"/>
          </a:p>
        </p:txBody>
      </p:sp>
      <p:sp>
        <p:nvSpPr>
          <p:cNvPr id="10" name="Text 5"/>
          <p:cNvSpPr/>
          <p:nvPr/>
        </p:nvSpPr>
        <p:spPr>
          <a:xfrm>
            <a:off x="777240" y="2971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predicted objects were actually correct.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777240" y="3520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FP)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4315968" y="178308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13" name="Image 3" descr="/home/claude/ppt2/bar_gr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1778508"/>
            <a:ext cx="3310128" cy="411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44568" y="1965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4544568" y="222199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0.9713</a:t>
            </a:r>
            <a:endParaRPr lang="en-US" sz="3600" dirty="0"/>
          </a:p>
        </p:txBody>
      </p:sp>
      <p:sp>
        <p:nvSpPr>
          <p:cNvPr id="16" name="Text 10"/>
          <p:cNvSpPr/>
          <p:nvPr/>
        </p:nvSpPr>
        <p:spPr>
          <a:xfrm>
            <a:off x="4544568" y="2971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actual hazardous objects were detected.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544568" y="3520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FN)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8083296" y="178308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19" name="Image 4" descr="/home/claude/ppt2/bar_gra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1778508"/>
            <a:ext cx="3310128" cy="4114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311896" y="1965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8311896" y="222199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0.9778</a:t>
            </a:r>
            <a:endParaRPr lang="en-US" sz="3600" dirty="0"/>
          </a:p>
        </p:txBody>
      </p:sp>
      <p:sp>
        <p:nvSpPr>
          <p:cNvPr id="22" name="Text 15"/>
          <p:cNvSpPr/>
          <p:nvPr/>
        </p:nvSpPr>
        <p:spPr>
          <a:xfrm>
            <a:off x="8311896" y="2971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balance of precision and recall.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8311896" y="3520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2·P·R / (P + R)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548640" y="4160520"/>
            <a:ext cx="5440680" cy="1691640"/>
          </a:xfrm>
          <a:prstGeom prst="roundRect">
            <a:avLst>
              <a:gd name="adj" fmla="val 4865"/>
            </a:avLst>
          </a:prstGeom>
          <a:solidFill>
            <a:srgbClr val="0C1220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25" name="Image 5" descr="/home/claude/ppt2/bar_gra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4155948"/>
            <a:ext cx="5184648" cy="411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22960" y="436168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822960" y="46177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0.9917</a:t>
            </a:r>
            <a:endParaRPr lang="en-US" sz="3200" dirty="0"/>
          </a:p>
        </p:txBody>
      </p:sp>
      <p:sp>
        <p:nvSpPr>
          <p:cNvPr id="28" name="Text 20"/>
          <p:cNvSpPr/>
          <p:nvPr/>
        </p:nvSpPr>
        <p:spPr>
          <a:xfrm>
            <a:off x="2926080" y="4617720"/>
            <a:ext cx="2788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Average Precision at IoU threshold 0.50 — how well predicted boxes overlap ground truth at a lenient threshold.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6190488" y="4160520"/>
            <a:ext cx="5440680" cy="1691640"/>
          </a:xfrm>
          <a:prstGeom prst="roundRect">
            <a:avLst>
              <a:gd name="adj" fmla="val 4865"/>
            </a:avLst>
          </a:prstGeom>
          <a:solidFill>
            <a:srgbClr val="0C1220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30" name="Image 6" descr="/home/claude/ppt2/bar_gra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8504" y="4155948"/>
            <a:ext cx="5184648" cy="4114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464808" y="436168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MAP@50-95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6464808" y="46177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0.9467</a:t>
            </a:r>
            <a:endParaRPr lang="en-US" sz="3200" dirty="0"/>
          </a:p>
        </p:txBody>
      </p:sp>
      <p:sp>
        <p:nvSpPr>
          <p:cNvPr id="33" name="Text 24"/>
          <p:cNvSpPr/>
          <p:nvPr/>
        </p:nvSpPr>
        <p:spPr>
          <a:xfrm>
            <a:off x="8567928" y="4617720"/>
            <a:ext cx="2788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evaluation averaged across IoU thresholds from 0.50 to 0.95 in steps of 0.05.</a:t>
            </a:r>
            <a:endParaRPr lang="en-US" sz="1050" dirty="0"/>
          </a:p>
        </p:txBody>
      </p:sp>
      <p:sp>
        <p:nvSpPr>
          <p:cNvPr id="34" name="Text 25"/>
          <p:cNvSpPr/>
          <p:nvPr/>
        </p:nvSpPr>
        <p:spPr>
          <a:xfrm>
            <a:off x="111099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2/glow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377440" y="3108960"/>
            <a:ext cx="4937760" cy="4937760"/>
          </a:xfrm>
          <a:prstGeom prst="rect">
            <a:avLst/>
          </a:prstGeom>
        </p:spPr>
      </p:pic>
      <p:pic>
        <p:nvPicPr>
          <p:cNvPr id="3" name="Image 1" descr="/home/claude/ppt2/glow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-2194560"/>
            <a:ext cx="4937760" cy="4937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METHODOLOGY — STEP 8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pipeline: from best.pt to a live API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783080"/>
            <a:ext cx="2624328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7" name="Image 2" descr="/home/claude/ppt2/circle_fl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65960"/>
            <a:ext cx="502920" cy="502920"/>
          </a:xfrm>
          <a:prstGeom prst="rect">
            <a:avLst/>
          </a:prstGeom>
        </p:spPr>
      </p:pic>
      <p:pic>
        <p:nvPicPr>
          <p:cNvPr id="8" name="Image 3" descr="/home/claude/ppt2/icon_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091690"/>
            <a:ext cx="251460" cy="25146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31520" y="2606040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</a:t>
            </a:r>
            <a:endParaRPr lang="en-US" sz="1250" dirty="0"/>
          </a:p>
        </p:txBody>
      </p:sp>
      <p:sp>
        <p:nvSpPr>
          <p:cNvPr id="10" name="Text 4"/>
          <p:cNvSpPr/>
          <p:nvPr/>
        </p:nvSpPr>
        <p:spPr>
          <a:xfrm>
            <a:off x="731520" y="2971800"/>
            <a:ext cx="2258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best.pt bundled with a Flask inference app and requirements.txt.</a:t>
            </a:r>
            <a:endParaRPr lang="en-US" sz="950" dirty="0"/>
          </a:p>
        </p:txBody>
      </p:sp>
      <p:sp>
        <p:nvSpPr>
          <p:cNvPr id="11" name="Shape 5"/>
          <p:cNvSpPr/>
          <p:nvPr/>
        </p:nvSpPr>
        <p:spPr>
          <a:xfrm>
            <a:off x="3127248" y="2258568"/>
            <a:ext cx="237744" cy="146304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12" name="Shape 6"/>
          <p:cNvSpPr/>
          <p:nvPr/>
        </p:nvSpPr>
        <p:spPr>
          <a:xfrm>
            <a:off x="3319272" y="1783080"/>
            <a:ext cx="2624328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13" name="Image 4" descr="/home/claude/ppt2/circle_fla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1965960"/>
            <a:ext cx="502920" cy="502920"/>
          </a:xfrm>
          <a:prstGeom prst="rect">
            <a:avLst/>
          </a:prstGeom>
        </p:spPr>
      </p:pic>
      <p:pic>
        <p:nvPicPr>
          <p:cNvPr id="14" name="Image 5" descr="/home/claude/ppt2/icon_clou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7882" y="2091690"/>
            <a:ext cx="251460" cy="25146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3502152" y="2606040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to Render</a:t>
            </a:r>
            <a:endParaRPr lang="en-US" sz="1250" dirty="0"/>
          </a:p>
        </p:txBody>
      </p:sp>
      <p:sp>
        <p:nvSpPr>
          <p:cNvPr id="16" name="Text 8"/>
          <p:cNvSpPr/>
          <p:nvPr/>
        </p:nvSpPr>
        <p:spPr>
          <a:xfrm>
            <a:off x="3502152" y="2971800"/>
            <a:ext cx="2258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connected to Render; build triggered on every push to main.</a:t>
            </a:r>
            <a:endParaRPr lang="en-US" sz="950" dirty="0"/>
          </a:p>
        </p:txBody>
      </p:sp>
      <p:sp>
        <p:nvSpPr>
          <p:cNvPr id="17" name="Shape 9"/>
          <p:cNvSpPr/>
          <p:nvPr/>
        </p:nvSpPr>
        <p:spPr>
          <a:xfrm>
            <a:off x="5897880" y="2258568"/>
            <a:ext cx="237744" cy="146304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18" name="Shape 10"/>
          <p:cNvSpPr/>
          <p:nvPr/>
        </p:nvSpPr>
        <p:spPr>
          <a:xfrm>
            <a:off x="6089904" y="1783080"/>
            <a:ext cx="2624328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19" name="Image 6" descr="/home/claude/ppt2/circle_fla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2784" y="1965960"/>
            <a:ext cx="502920" cy="502920"/>
          </a:xfrm>
          <a:prstGeom prst="rect">
            <a:avLst/>
          </a:prstGeom>
        </p:spPr>
      </p:pic>
      <p:pic>
        <p:nvPicPr>
          <p:cNvPr id="20" name="Image 7" descr="/home/claude/ppt2/icon_serv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8514" y="2091690"/>
            <a:ext cx="251460" cy="25146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6272784" y="2606040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Serve</a:t>
            </a:r>
            <a:endParaRPr lang="en-US" sz="1250" dirty="0"/>
          </a:p>
        </p:txBody>
      </p:sp>
      <p:sp>
        <p:nvSpPr>
          <p:cNvPr id="22" name="Text 12"/>
          <p:cNvSpPr/>
          <p:nvPr/>
        </p:nvSpPr>
        <p:spPr>
          <a:xfrm>
            <a:off x="6272784" y="2971800"/>
            <a:ext cx="2258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installs dependencies, starts the Flask server, and exposes HTTPS endpoints.</a:t>
            </a:r>
            <a:endParaRPr lang="en-US" sz="950" dirty="0"/>
          </a:p>
        </p:txBody>
      </p:sp>
      <p:sp>
        <p:nvSpPr>
          <p:cNvPr id="23" name="Shape 13"/>
          <p:cNvSpPr/>
          <p:nvPr/>
        </p:nvSpPr>
        <p:spPr>
          <a:xfrm>
            <a:off x="8668512" y="2258568"/>
            <a:ext cx="237744" cy="146304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24" name="Shape 14"/>
          <p:cNvSpPr/>
          <p:nvPr/>
        </p:nvSpPr>
        <p:spPr>
          <a:xfrm>
            <a:off x="8860536" y="1783080"/>
            <a:ext cx="2624328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25" name="Image 8" descr="/home/claude/ppt2/circle_fla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3416" y="1965960"/>
            <a:ext cx="502920" cy="502920"/>
          </a:xfrm>
          <a:prstGeom prst="rect">
            <a:avLst/>
          </a:prstGeom>
        </p:spPr>
      </p:pic>
      <p:pic>
        <p:nvPicPr>
          <p:cNvPr id="26" name="Image 9" descr="/home/claude/ppt2/icon_wifi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69146" y="2091690"/>
            <a:ext cx="251460" cy="25146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9043416" y="2606040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</a:t>
            </a:r>
            <a:endParaRPr lang="en-US" sz="1250" dirty="0"/>
          </a:p>
        </p:txBody>
      </p:sp>
      <p:sp>
        <p:nvSpPr>
          <p:cNvPr id="28" name="Text 16"/>
          <p:cNvSpPr/>
          <p:nvPr/>
        </p:nvSpPr>
        <p:spPr>
          <a:xfrm>
            <a:off x="9043416" y="2971800"/>
            <a:ext cx="2258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reachable worldwide at the public Render URL, model loaded in memory.</a:t>
            </a:r>
            <a:endParaRPr lang="en-US" sz="950" dirty="0"/>
          </a:p>
        </p:txBody>
      </p:sp>
      <p:sp>
        <p:nvSpPr>
          <p:cNvPr id="29" name="Text 17"/>
          <p:cNvSpPr/>
          <p:nvPr/>
        </p:nvSpPr>
        <p:spPr>
          <a:xfrm>
            <a:off x="548640" y="3886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ENDPOINTS</a:t>
            </a:r>
            <a:endParaRPr lang="en-US" sz="1050" dirty="0"/>
          </a:p>
        </p:txBody>
      </p:sp>
      <p:sp>
        <p:nvSpPr>
          <p:cNvPr id="30" name="Shape 18"/>
          <p:cNvSpPr/>
          <p:nvPr/>
        </p:nvSpPr>
        <p:spPr>
          <a:xfrm>
            <a:off x="548640" y="4251960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1" name="Shape 19"/>
          <p:cNvSpPr/>
          <p:nvPr/>
        </p:nvSpPr>
        <p:spPr>
          <a:xfrm>
            <a:off x="713232" y="4334256"/>
            <a:ext cx="731520" cy="292608"/>
          </a:xfrm>
          <a:prstGeom prst="roundRect">
            <a:avLst>
              <a:gd name="adj" fmla="val 15625"/>
            </a:avLst>
          </a:prstGeom>
          <a:solidFill>
            <a:srgbClr val="0C122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20"/>
          <p:cNvSpPr/>
          <p:nvPr/>
        </p:nvSpPr>
        <p:spPr>
          <a:xfrm>
            <a:off x="713232" y="433425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950" dirty="0"/>
          </a:p>
        </p:txBody>
      </p:sp>
      <p:sp>
        <p:nvSpPr>
          <p:cNvPr id="33" name="Text 21"/>
          <p:cNvSpPr/>
          <p:nvPr/>
        </p:nvSpPr>
        <p:spPr>
          <a:xfrm>
            <a:off x="1600200" y="4251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250" dirty="0"/>
          </a:p>
        </p:txBody>
      </p:sp>
      <p:sp>
        <p:nvSpPr>
          <p:cNvPr id="34" name="Text 22"/>
          <p:cNvSpPr/>
          <p:nvPr/>
        </p:nvSpPr>
        <p:spPr>
          <a:xfrm>
            <a:off x="4114800" y="4251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the web application UI</a:t>
            </a:r>
            <a:endParaRPr lang="en-US" sz="1100" dirty="0"/>
          </a:p>
        </p:txBody>
      </p:sp>
      <p:sp>
        <p:nvSpPr>
          <p:cNvPr id="35" name="Shape 23"/>
          <p:cNvSpPr/>
          <p:nvPr/>
        </p:nvSpPr>
        <p:spPr>
          <a:xfrm>
            <a:off x="548640" y="4782312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6" name="Shape 24"/>
          <p:cNvSpPr/>
          <p:nvPr/>
        </p:nvSpPr>
        <p:spPr>
          <a:xfrm>
            <a:off x="713232" y="4864608"/>
            <a:ext cx="731520" cy="292608"/>
          </a:xfrm>
          <a:prstGeom prst="roundRect">
            <a:avLst>
              <a:gd name="adj" fmla="val 15625"/>
            </a:avLst>
          </a:prstGeom>
          <a:solidFill>
            <a:srgbClr val="0C122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25"/>
          <p:cNvSpPr/>
          <p:nvPr/>
        </p:nvSpPr>
        <p:spPr>
          <a:xfrm>
            <a:off x="713232" y="486460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950" dirty="0"/>
          </a:p>
        </p:txBody>
      </p:sp>
      <p:sp>
        <p:nvSpPr>
          <p:cNvPr id="38" name="Text 26"/>
          <p:cNvSpPr/>
          <p:nvPr/>
        </p:nvSpPr>
        <p:spPr>
          <a:xfrm>
            <a:off x="1600200" y="47823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250" dirty="0"/>
          </a:p>
        </p:txBody>
      </p:sp>
      <p:sp>
        <p:nvSpPr>
          <p:cNvPr id="39" name="Text 27"/>
          <p:cNvSpPr/>
          <p:nvPr/>
        </p:nvSpPr>
        <p:spPr>
          <a:xfrm>
            <a:off x="4114800" y="478231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API / model load status</a:t>
            </a:r>
            <a:endParaRPr lang="en-US" sz="1100" dirty="0"/>
          </a:p>
        </p:txBody>
      </p:sp>
      <p:sp>
        <p:nvSpPr>
          <p:cNvPr id="40" name="Shape 28"/>
          <p:cNvSpPr/>
          <p:nvPr/>
        </p:nvSpPr>
        <p:spPr>
          <a:xfrm>
            <a:off x="548640" y="5312664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41" name="Shape 29"/>
          <p:cNvSpPr/>
          <p:nvPr/>
        </p:nvSpPr>
        <p:spPr>
          <a:xfrm>
            <a:off x="713232" y="5394960"/>
            <a:ext cx="731520" cy="292608"/>
          </a:xfrm>
          <a:prstGeom prst="roundRect">
            <a:avLst>
              <a:gd name="adj" fmla="val 15625"/>
            </a:avLst>
          </a:prstGeom>
          <a:solidFill>
            <a:srgbClr val="0C122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2" name="Text 30"/>
          <p:cNvSpPr/>
          <p:nvPr/>
        </p:nvSpPr>
        <p:spPr>
          <a:xfrm>
            <a:off x="713232" y="53949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950" dirty="0"/>
          </a:p>
        </p:txBody>
      </p:sp>
      <p:sp>
        <p:nvSpPr>
          <p:cNvPr id="43" name="Text 31"/>
          <p:cNvSpPr/>
          <p:nvPr/>
        </p:nvSpPr>
        <p:spPr>
          <a:xfrm>
            <a:off x="1600200" y="531266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</a:t>
            </a:r>
            <a:endParaRPr lang="en-US" sz="1250" dirty="0"/>
          </a:p>
        </p:txBody>
      </p:sp>
      <p:sp>
        <p:nvSpPr>
          <p:cNvPr id="44" name="Text 32"/>
          <p:cNvSpPr/>
          <p:nvPr/>
        </p:nvSpPr>
        <p:spPr>
          <a:xfrm>
            <a:off x="4114800" y="531266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an image, returns detections</a:t>
            </a:r>
            <a:endParaRPr lang="en-US" sz="1100" dirty="0"/>
          </a:p>
        </p:txBody>
      </p:sp>
      <p:sp>
        <p:nvSpPr>
          <p:cNvPr id="45" name="Shape 33"/>
          <p:cNvSpPr/>
          <p:nvPr/>
        </p:nvSpPr>
        <p:spPr>
          <a:xfrm>
            <a:off x="548640" y="5843016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46" name="Shape 34"/>
          <p:cNvSpPr/>
          <p:nvPr/>
        </p:nvSpPr>
        <p:spPr>
          <a:xfrm>
            <a:off x="713232" y="5925312"/>
            <a:ext cx="731520" cy="292608"/>
          </a:xfrm>
          <a:prstGeom prst="roundRect">
            <a:avLst>
              <a:gd name="adj" fmla="val 15625"/>
            </a:avLst>
          </a:prstGeom>
          <a:solidFill>
            <a:srgbClr val="0C122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713232" y="592531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</a:t>
            </a:r>
            <a:endParaRPr lang="en-US" sz="950" dirty="0"/>
          </a:p>
        </p:txBody>
      </p:sp>
      <p:sp>
        <p:nvSpPr>
          <p:cNvPr id="48" name="Text 36"/>
          <p:cNvSpPr/>
          <p:nvPr/>
        </p:nvSpPr>
        <p:spPr>
          <a:xfrm>
            <a:off x="1600200" y="584301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/webcam</a:t>
            </a:r>
            <a:endParaRPr lang="en-US" sz="1250" dirty="0"/>
          </a:p>
        </p:txBody>
      </p:sp>
      <p:sp>
        <p:nvSpPr>
          <p:cNvPr id="49" name="Text 37"/>
          <p:cNvSpPr/>
          <p:nvPr/>
        </p:nvSpPr>
        <p:spPr>
          <a:xfrm>
            <a:off x="4114800" y="584301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live frames for real-time detection</a:t>
            </a:r>
            <a:endParaRPr lang="en-US" sz="1100" dirty="0"/>
          </a:p>
        </p:txBody>
      </p:sp>
      <p:sp>
        <p:nvSpPr>
          <p:cNvPr id="50" name="Text 38"/>
          <p:cNvSpPr/>
          <p:nvPr/>
        </p:nvSpPr>
        <p:spPr>
          <a:xfrm>
            <a:off x="111099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2/glow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560320" y="-2560320"/>
            <a:ext cx="4754880" cy="4754880"/>
          </a:xfrm>
          <a:prstGeom prst="rect">
            <a:avLst/>
          </a:prstGeom>
        </p:spPr>
      </p:pic>
      <p:pic>
        <p:nvPicPr>
          <p:cNvPr id="3" name="Image 1" descr="/home/claude/ppt2/glow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206240"/>
            <a:ext cx="4754880" cy="47548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METHODOLOGY — STEP 9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 detection workflow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828800"/>
            <a:ext cx="2011680" cy="1965960"/>
          </a:xfrm>
          <a:prstGeom prst="roundRect">
            <a:avLst>
              <a:gd name="adj" fmla="val 3721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85800" y="1920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pic>
        <p:nvPicPr>
          <p:cNvPr id="8" name="Image 2" descr="/home/claude/ppt2/circle_fl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240280"/>
            <a:ext cx="457200" cy="457200"/>
          </a:xfrm>
          <a:prstGeom prst="rect">
            <a:avLst/>
          </a:prstGeom>
        </p:spPr>
      </p:pic>
      <p:pic>
        <p:nvPicPr>
          <p:cNvPr id="9" name="Image 3" descr="/home/claude/ppt2/icon_im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180" y="2354580"/>
            <a:ext cx="228600" cy="228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58368" y="283464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658368" y="3182112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an image via the web UI</a:t>
            </a:r>
            <a:endParaRPr lang="en-US" sz="870" dirty="0"/>
          </a:p>
        </p:txBody>
      </p:sp>
      <p:sp>
        <p:nvSpPr>
          <p:cNvPr id="12" name="Shape 6"/>
          <p:cNvSpPr/>
          <p:nvPr/>
        </p:nvSpPr>
        <p:spPr>
          <a:xfrm>
            <a:off x="2514600" y="2395728"/>
            <a:ext cx="237744" cy="146304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13" name="Shape 7"/>
          <p:cNvSpPr/>
          <p:nvPr/>
        </p:nvSpPr>
        <p:spPr>
          <a:xfrm>
            <a:off x="2706624" y="1828800"/>
            <a:ext cx="2011680" cy="1965960"/>
          </a:xfrm>
          <a:prstGeom prst="roundRect">
            <a:avLst>
              <a:gd name="adj" fmla="val 3721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2843784" y="1920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pic>
        <p:nvPicPr>
          <p:cNvPr id="15" name="Image 4" descr="/home/claude/ppt2/circle_fla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240280"/>
            <a:ext cx="457200" cy="457200"/>
          </a:xfrm>
          <a:prstGeom prst="rect">
            <a:avLst/>
          </a:prstGeom>
        </p:spPr>
      </p:pic>
      <p:pic>
        <p:nvPicPr>
          <p:cNvPr id="16" name="Image 5" descr="/home/claude/ppt2/icon_l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8164" y="2354580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2816352" y="283464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API</a:t>
            </a:r>
            <a:endParaRPr lang="en-US" sz="1100" dirty="0"/>
          </a:p>
        </p:txBody>
      </p:sp>
      <p:sp>
        <p:nvSpPr>
          <p:cNvPr id="18" name="Text 10"/>
          <p:cNvSpPr/>
          <p:nvPr/>
        </p:nvSpPr>
        <p:spPr>
          <a:xfrm>
            <a:off x="2816352" y="3182112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POSTed to /predict as multipart form data</a:t>
            </a:r>
            <a:endParaRPr lang="en-US" sz="870" dirty="0"/>
          </a:p>
        </p:txBody>
      </p:sp>
      <p:sp>
        <p:nvSpPr>
          <p:cNvPr id="19" name="Shape 11"/>
          <p:cNvSpPr/>
          <p:nvPr/>
        </p:nvSpPr>
        <p:spPr>
          <a:xfrm>
            <a:off x="4672584" y="2395728"/>
            <a:ext cx="237744" cy="146304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20" name="Shape 12"/>
          <p:cNvSpPr/>
          <p:nvPr/>
        </p:nvSpPr>
        <p:spPr>
          <a:xfrm>
            <a:off x="4864608" y="1828800"/>
            <a:ext cx="2011680" cy="1965960"/>
          </a:xfrm>
          <a:prstGeom prst="roundRect">
            <a:avLst>
              <a:gd name="adj" fmla="val 3721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5001768" y="1920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pic>
        <p:nvPicPr>
          <p:cNvPr id="22" name="Image 6" descr="/home/claude/ppt2/circle_fla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1848" y="2240280"/>
            <a:ext cx="457200" cy="457200"/>
          </a:xfrm>
          <a:prstGeom prst="rect">
            <a:avLst/>
          </a:prstGeom>
        </p:spPr>
      </p:pic>
      <p:pic>
        <p:nvPicPr>
          <p:cNvPr id="23" name="Image 7" descr="/home/claude/ppt2/icon_brai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6148" y="2354580"/>
            <a:ext cx="228600" cy="2286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974336" y="283464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Detection</a:t>
            </a:r>
            <a:endParaRPr lang="en-US" sz="1100" dirty="0"/>
          </a:p>
        </p:txBody>
      </p:sp>
      <p:sp>
        <p:nvSpPr>
          <p:cNvPr id="25" name="Text 15"/>
          <p:cNvSpPr/>
          <p:nvPr/>
        </p:nvSpPr>
        <p:spPr>
          <a:xfrm>
            <a:off x="4974336" y="3182112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runs inference at the set confidence threshold</a:t>
            </a:r>
            <a:endParaRPr lang="en-US" sz="870" dirty="0"/>
          </a:p>
        </p:txBody>
      </p:sp>
      <p:sp>
        <p:nvSpPr>
          <p:cNvPr id="26" name="Shape 16"/>
          <p:cNvSpPr/>
          <p:nvPr/>
        </p:nvSpPr>
        <p:spPr>
          <a:xfrm>
            <a:off x="6830568" y="2395728"/>
            <a:ext cx="237744" cy="146304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27" name="Shape 17"/>
          <p:cNvSpPr/>
          <p:nvPr/>
        </p:nvSpPr>
        <p:spPr>
          <a:xfrm>
            <a:off x="7022592" y="1828800"/>
            <a:ext cx="2011680" cy="1965960"/>
          </a:xfrm>
          <a:prstGeom prst="roundRect">
            <a:avLst>
              <a:gd name="adj" fmla="val 3721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8" name="Text 18"/>
          <p:cNvSpPr/>
          <p:nvPr/>
        </p:nvSpPr>
        <p:spPr>
          <a:xfrm>
            <a:off x="7159752" y="1920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pic>
        <p:nvPicPr>
          <p:cNvPr id="29" name="Image 8" descr="/home/claude/ppt2/circle_fla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9832" y="2240280"/>
            <a:ext cx="457200" cy="457200"/>
          </a:xfrm>
          <a:prstGeom prst="rect">
            <a:avLst/>
          </a:prstGeom>
        </p:spPr>
      </p:pic>
      <p:pic>
        <p:nvPicPr>
          <p:cNvPr id="30" name="Image 9" descr="/home/claude/ppt2/icon_cog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14132" y="2354580"/>
            <a:ext cx="228600" cy="2286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7132320" y="283464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Results</a:t>
            </a:r>
            <a:endParaRPr lang="en-US" sz="1100" dirty="0"/>
          </a:p>
        </p:txBody>
      </p:sp>
      <p:sp>
        <p:nvSpPr>
          <p:cNvPr id="32" name="Text 20"/>
          <p:cNvSpPr/>
          <p:nvPr/>
        </p:nvSpPr>
        <p:spPr>
          <a:xfrm>
            <a:off x="7132320" y="3182112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Boxes, classes &amp; scores parsed into JSON</a:t>
            </a:r>
            <a:endParaRPr lang="en-US" sz="870" dirty="0"/>
          </a:p>
        </p:txBody>
      </p:sp>
      <p:sp>
        <p:nvSpPr>
          <p:cNvPr id="33" name="Shape 21"/>
          <p:cNvSpPr/>
          <p:nvPr/>
        </p:nvSpPr>
        <p:spPr>
          <a:xfrm>
            <a:off x="8988552" y="2395728"/>
            <a:ext cx="237744" cy="146304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34" name="Shape 22"/>
          <p:cNvSpPr/>
          <p:nvPr/>
        </p:nvSpPr>
        <p:spPr>
          <a:xfrm>
            <a:off x="9180576" y="1828800"/>
            <a:ext cx="2011680" cy="1965960"/>
          </a:xfrm>
          <a:prstGeom prst="roundRect">
            <a:avLst>
              <a:gd name="adj" fmla="val 3721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5" name="Text 23"/>
          <p:cNvSpPr/>
          <p:nvPr/>
        </p:nvSpPr>
        <p:spPr>
          <a:xfrm>
            <a:off x="9317736" y="1920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pic>
        <p:nvPicPr>
          <p:cNvPr id="36" name="Image 10" descr="/home/claude/ppt2/circle_fla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57816" y="2240280"/>
            <a:ext cx="457200" cy="457200"/>
          </a:xfrm>
          <a:prstGeom prst="rect">
            <a:avLst/>
          </a:prstGeom>
        </p:spPr>
      </p:pic>
      <p:pic>
        <p:nvPicPr>
          <p:cNvPr id="37" name="Image 11" descr="/home/claude/ppt2/icon_desktop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72116" y="2354580"/>
            <a:ext cx="228600" cy="228600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9290304" y="283464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Detection</a:t>
            </a:r>
            <a:endParaRPr lang="en-US" sz="1100" dirty="0"/>
          </a:p>
        </p:txBody>
      </p:sp>
      <p:sp>
        <p:nvSpPr>
          <p:cNvPr id="39" name="Text 25"/>
          <p:cNvSpPr/>
          <p:nvPr/>
        </p:nvSpPr>
        <p:spPr>
          <a:xfrm>
            <a:off x="9290304" y="3182112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image + details rendered in-browser</a:t>
            </a:r>
            <a:endParaRPr lang="en-US" sz="870" dirty="0"/>
          </a:p>
        </p:txBody>
      </p:sp>
      <p:sp>
        <p:nvSpPr>
          <p:cNvPr id="40" name="Text 26"/>
          <p:cNvSpPr/>
          <p:nvPr/>
        </p:nvSpPr>
        <p:spPr>
          <a:xfrm>
            <a:off x="548640" y="41605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50" dirty="0"/>
          </a:p>
        </p:txBody>
      </p:sp>
      <p:sp>
        <p:nvSpPr>
          <p:cNvPr id="41" name="Shape 27"/>
          <p:cNvSpPr/>
          <p:nvPr/>
        </p:nvSpPr>
        <p:spPr>
          <a:xfrm>
            <a:off x="548640" y="4462272"/>
            <a:ext cx="5394960" cy="1737360"/>
          </a:xfrm>
          <a:prstGeom prst="roundRect">
            <a:avLst>
              <a:gd name="adj" fmla="val 3684"/>
            </a:avLst>
          </a:prstGeom>
          <a:solidFill>
            <a:srgbClr val="0C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42" name="Text 28"/>
          <p:cNvSpPr/>
          <p:nvPr/>
        </p:nvSpPr>
        <p:spPr>
          <a:xfrm>
            <a:off x="749808" y="4608576"/>
            <a:ext cx="499262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9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/predict HTTP/1.1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9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multipart/form-data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9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file=cylinders.jpg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9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confidence=0.55</a:t>
            </a:r>
            <a:endParaRPr lang="en-US" sz="1100" dirty="0"/>
          </a:p>
        </p:txBody>
      </p:sp>
      <p:sp>
        <p:nvSpPr>
          <p:cNvPr id="43" name="Text 29"/>
          <p:cNvSpPr/>
          <p:nvPr/>
        </p:nvSpPr>
        <p:spPr>
          <a:xfrm>
            <a:off x="6172200" y="4160520"/>
            <a:ext cx="5468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50" dirty="0"/>
          </a:p>
        </p:txBody>
      </p:sp>
      <p:sp>
        <p:nvSpPr>
          <p:cNvPr id="44" name="Shape 30"/>
          <p:cNvSpPr/>
          <p:nvPr/>
        </p:nvSpPr>
        <p:spPr>
          <a:xfrm>
            <a:off x="6172200" y="4462272"/>
            <a:ext cx="5468112" cy="1737360"/>
          </a:xfrm>
          <a:prstGeom prst="roundRect">
            <a:avLst>
              <a:gd name="adj" fmla="val 3684"/>
            </a:avLst>
          </a:prstGeom>
          <a:solidFill>
            <a:srgbClr val="0C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45" name="Text 31"/>
          <p:cNvSpPr/>
          <p:nvPr/>
        </p:nvSpPr>
        <p:spPr>
          <a:xfrm>
            <a:off x="6373368" y="4608576"/>
            <a:ext cx="506577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970" dirty="0">
                <a:solidFill>
                  <a:srgbClr val="B9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"detections": [</a:t>
            </a:r>
            <a:endParaRPr lang="en-US" sz="97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70" dirty="0">
                <a:solidFill>
                  <a:srgbClr val="B9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{"class":"cylinder","confidence":0.97,</a:t>
            </a:r>
            <a:endParaRPr lang="en-US" sz="97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70" dirty="0">
                <a:solidFill>
                  <a:srgbClr val="B9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"bbox":[112,44,289,401]},</a:t>
            </a:r>
            <a:endParaRPr lang="en-US" sz="97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70" dirty="0">
                <a:solidFill>
                  <a:srgbClr val="B9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{"class":"shock absorber","confidence":0.91,</a:t>
            </a:r>
            <a:endParaRPr lang="en-US" sz="97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70" dirty="0">
                <a:solidFill>
                  <a:srgbClr val="B9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"bbox":[310,88,410,388]}</a:t>
            </a:r>
            <a:endParaRPr lang="en-US" sz="97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70" dirty="0">
                <a:solidFill>
                  <a:srgbClr val="B9C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}</a:t>
            </a:r>
            <a:endParaRPr lang="en-US" sz="970" dirty="0"/>
          </a:p>
        </p:txBody>
      </p:sp>
      <p:sp>
        <p:nvSpPr>
          <p:cNvPr id="46" name="Text 32"/>
          <p:cNvSpPr/>
          <p:nvPr/>
        </p:nvSpPr>
        <p:spPr>
          <a:xfrm>
            <a:off x="111099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2/glow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377440" y="3108960"/>
            <a:ext cx="4937760" cy="4937760"/>
          </a:xfrm>
          <a:prstGeom prst="rect">
            <a:avLst/>
          </a:prstGeom>
        </p:spPr>
      </p:pic>
      <p:pic>
        <p:nvPicPr>
          <p:cNvPr id="3" name="Image 1" descr="/home/claude/ppt2/glow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-2194560"/>
            <a:ext cx="4937760" cy="4937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deployed web interface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645920"/>
            <a:ext cx="11091672" cy="4892040"/>
          </a:xfrm>
          <a:prstGeom prst="roundRect">
            <a:avLst>
              <a:gd name="adj" fmla="val 1495"/>
            </a:avLst>
          </a:prstGeom>
          <a:solidFill>
            <a:srgbClr val="060911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49808" y="1792224"/>
            <a:ext cx="109728" cy="109728"/>
          </a:xfrm>
          <a:prstGeom prst="ellipse">
            <a:avLst/>
          </a:prstGeom>
          <a:solidFill>
            <a:srgbClr val="E15A4B"/>
          </a:solidFill>
          <a:ln/>
        </p:spPr>
      </p:sp>
      <p:sp>
        <p:nvSpPr>
          <p:cNvPr id="8" name="Shape 4"/>
          <p:cNvSpPr/>
          <p:nvPr/>
        </p:nvSpPr>
        <p:spPr>
          <a:xfrm>
            <a:off x="969264" y="1792224"/>
            <a:ext cx="109728" cy="109728"/>
          </a:xfrm>
          <a:prstGeom prst="ellipse">
            <a:avLst/>
          </a:prstGeom>
          <a:solidFill>
            <a:srgbClr val="E5B62E"/>
          </a:solidFill>
          <a:ln/>
        </p:spPr>
      </p:sp>
      <p:sp>
        <p:nvSpPr>
          <p:cNvPr id="9" name="Shape 5"/>
          <p:cNvSpPr/>
          <p:nvPr/>
        </p:nvSpPr>
        <p:spPr>
          <a:xfrm>
            <a:off x="1188720" y="1792224"/>
            <a:ext cx="109728" cy="109728"/>
          </a:xfrm>
          <a:prstGeom prst="ellipse">
            <a:avLst/>
          </a:prstGeom>
          <a:solidFill>
            <a:srgbClr val="2AAE4B"/>
          </a:solidFill>
          <a:ln/>
        </p:spPr>
      </p:sp>
      <p:sp>
        <p:nvSpPr>
          <p:cNvPr id="10" name="Text 6"/>
          <p:cNvSpPr/>
          <p:nvPr/>
        </p:nvSpPr>
        <p:spPr>
          <a:xfrm>
            <a:off x="4206240" y="17190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hazardous-object-detection.onrender.com</a:t>
            </a:r>
            <a:endParaRPr lang="en-US" sz="900" dirty="0"/>
          </a:p>
        </p:txBody>
      </p:sp>
      <p:pic>
        <p:nvPicPr>
          <p:cNvPr id="11" name="Image 2" descr="/home/claude/ppt2/logo_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12848"/>
            <a:ext cx="566928" cy="5669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08760" y="223113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Hazardous </a:t>
            </a:r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1527048" y="25786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YOLO-Based Object Detection System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10058400" y="23317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F2418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0204704" y="2459736"/>
            <a:ext cx="82296" cy="8229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" name="Text 11"/>
          <p:cNvSpPr/>
          <p:nvPr/>
        </p:nvSpPr>
        <p:spPr>
          <a:xfrm>
            <a:off x="10332720" y="233172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ONLINE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22960" y="3017520"/>
            <a:ext cx="10543032" cy="1417320"/>
          </a:xfrm>
          <a:prstGeom prst="roundRect">
            <a:avLst>
              <a:gd name="adj" fmla="val 4516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18" name="Image 3" descr="/home/claude/ppt2/bar_gr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013862"/>
            <a:ext cx="10360152" cy="320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1560" y="31272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Status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051560" y="34290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the detection system connection and adjust sensitivity.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1051560" y="3767328"/>
            <a:ext cx="3194304" cy="548640"/>
          </a:xfrm>
          <a:prstGeom prst="roundRect">
            <a:avLst>
              <a:gd name="adj" fmla="val 10000"/>
            </a:avLst>
          </a:prstGeom>
          <a:solidFill>
            <a:srgbClr val="0C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1179576" y="3822192"/>
            <a:ext cx="2938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STATUS</a:t>
            </a:r>
            <a:endParaRPr lang="en-US" sz="750" dirty="0"/>
          </a:p>
        </p:txBody>
      </p:sp>
      <p:sp>
        <p:nvSpPr>
          <p:cNvPr id="23" name="Text 17"/>
          <p:cNvSpPr/>
          <p:nvPr/>
        </p:nvSpPr>
        <p:spPr>
          <a:xfrm>
            <a:off x="1179576" y="4023360"/>
            <a:ext cx="2938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Running — Model Loaded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47032" y="3767328"/>
            <a:ext cx="3194304" cy="548640"/>
          </a:xfrm>
          <a:prstGeom prst="roundRect">
            <a:avLst>
              <a:gd name="adj" fmla="val 10000"/>
            </a:avLst>
          </a:prstGeom>
          <a:solidFill>
            <a:srgbClr val="0C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575048" y="3822192"/>
            <a:ext cx="2938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4575048" y="4023360"/>
            <a:ext cx="2938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 (best.pt)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7842504" y="3767328"/>
            <a:ext cx="3194304" cy="548640"/>
          </a:xfrm>
          <a:prstGeom prst="roundRect">
            <a:avLst>
              <a:gd name="adj" fmla="val 10000"/>
            </a:avLst>
          </a:prstGeom>
          <a:solidFill>
            <a:srgbClr val="0C1220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970520" y="3822192"/>
            <a:ext cx="2938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</a:t>
            </a:r>
            <a:endParaRPr lang="en-US" sz="750" dirty="0"/>
          </a:p>
        </p:txBody>
      </p:sp>
      <p:sp>
        <p:nvSpPr>
          <p:cNvPr id="29" name="Text 23"/>
          <p:cNvSpPr/>
          <p:nvPr/>
        </p:nvSpPr>
        <p:spPr>
          <a:xfrm>
            <a:off x="7970520" y="4023360"/>
            <a:ext cx="2938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822960" y="4572000"/>
            <a:ext cx="4882896" cy="1828800"/>
          </a:xfrm>
          <a:prstGeom prst="roundRect">
            <a:avLst>
              <a:gd name="adj" fmla="val 350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31" name="Image 4" descr="/home/claude/ppt2/bar_gra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568342"/>
            <a:ext cx="4700016" cy="3200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51560" y="4681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Image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1051560" y="497433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 image to detect hazardous objects.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1051560" y="5285232"/>
            <a:ext cx="4425696" cy="502920"/>
          </a:xfrm>
          <a:prstGeom prst="roundRect">
            <a:avLst>
              <a:gd name="adj" fmla="val 10909"/>
            </a:avLst>
          </a:prstGeom>
          <a:solidFill>
            <a:srgbClr val="0C1220"/>
          </a:solidFill>
          <a:ln w="12700">
            <a:solidFill>
              <a:srgbClr val="22304A"/>
            </a:solidFill>
            <a:prstDash val="dash"/>
          </a:ln>
        </p:spPr>
      </p:sp>
      <p:sp>
        <p:nvSpPr>
          <p:cNvPr id="35" name="Shape 28"/>
          <p:cNvSpPr/>
          <p:nvPr/>
        </p:nvSpPr>
        <p:spPr>
          <a:xfrm>
            <a:off x="1188720" y="539496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17233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1188720" y="5394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File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2240280" y="5394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cylinders.jpg</a:t>
            </a:r>
            <a:endParaRPr lang="en-US" sz="900" dirty="0"/>
          </a:p>
        </p:txBody>
      </p:sp>
      <p:pic>
        <p:nvPicPr>
          <p:cNvPr id="38" name="Image 5" descr="/home/claude/ppt2/button_gra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5943600"/>
            <a:ext cx="4425696" cy="41148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051560" y="5943600"/>
            <a:ext cx="4425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Objects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5934456" y="4572000"/>
            <a:ext cx="4882896" cy="1828800"/>
          </a:xfrm>
          <a:prstGeom prst="roundRect">
            <a:avLst>
              <a:gd name="adj" fmla="val 350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41" name="Image 6" descr="/home/claude/ppt2/bar_gra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5896" y="4568342"/>
            <a:ext cx="4700016" cy="32004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6163056" y="4681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Webcam Detection</a:t>
            </a:r>
            <a:endParaRPr lang="en-US" sz="1250" dirty="0"/>
          </a:p>
        </p:txBody>
      </p:sp>
      <p:sp>
        <p:nvSpPr>
          <p:cNvPr id="43" name="Text 34"/>
          <p:cNvSpPr/>
          <p:nvPr/>
        </p:nvSpPr>
        <p:spPr>
          <a:xfrm>
            <a:off x="6163056" y="4974336"/>
            <a:ext cx="44256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webcam for automatic real-time hazardous object detection.</a:t>
            </a:r>
            <a:endParaRPr lang="en-US" sz="900" dirty="0"/>
          </a:p>
        </p:txBody>
      </p:sp>
      <p:sp>
        <p:nvSpPr>
          <p:cNvPr id="44" name="Shape 35"/>
          <p:cNvSpPr/>
          <p:nvPr/>
        </p:nvSpPr>
        <p:spPr>
          <a:xfrm>
            <a:off x="6163056" y="5285232"/>
            <a:ext cx="4425696" cy="868680"/>
          </a:xfrm>
          <a:prstGeom prst="roundRect">
            <a:avLst>
              <a:gd name="adj" fmla="val 6316"/>
            </a:avLst>
          </a:prstGeom>
          <a:solidFill>
            <a:srgbClr val="05070C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45" name="Image 7" descr="/home/claude/ppt2/circle_fla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8704" y="5486400"/>
            <a:ext cx="457200" cy="457200"/>
          </a:xfrm>
          <a:prstGeom prst="rect">
            <a:avLst/>
          </a:prstGeom>
        </p:spPr>
      </p:pic>
      <p:pic>
        <p:nvPicPr>
          <p:cNvPr id="46" name="Image 8" descr="/home/claude/ppt2/icon_vide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3004" y="5600700"/>
            <a:ext cx="228600" cy="22860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163056" y="6199632"/>
            <a:ext cx="44256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feed preview</a:t>
            </a:r>
            <a:endParaRPr lang="en-US" sz="850" dirty="0"/>
          </a:p>
        </p:txBody>
      </p:sp>
      <p:sp>
        <p:nvSpPr>
          <p:cNvPr id="48" name="Text 37"/>
          <p:cNvSpPr/>
          <p:nvPr/>
        </p:nvSpPr>
        <p:spPr>
          <a:xfrm>
            <a:off x="111099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2/glow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560320" y="-2560320"/>
            <a:ext cx="4754880" cy="4754880"/>
          </a:xfrm>
          <a:prstGeom prst="rect">
            <a:avLst/>
          </a:prstGeom>
        </p:spPr>
      </p:pic>
      <p:pic>
        <p:nvPicPr>
          <p:cNvPr id="3" name="Image 1" descr="/home/claude/ppt2/glow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206240"/>
            <a:ext cx="4754880" cy="47548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SYSTEM ARCHITECTURE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architecture, end to end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783080"/>
            <a:ext cx="2624328" cy="4160520"/>
          </a:xfrm>
          <a:prstGeom prst="roundRect">
            <a:avLst>
              <a:gd name="adj" fmla="val 2787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7" name="Image 2" descr="/home/claude/ppt2/bar_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79422"/>
            <a:ext cx="2404872" cy="36576"/>
          </a:xfrm>
          <a:prstGeom prst="rect">
            <a:avLst/>
          </a:prstGeom>
        </p:spPr>
      </p:pic>
      <p:pic>
        <p:nvPicPr>
          <p:cNvPr id="8" name="Image 3" descr="/home/claude/ppt2/circle_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484" y="2011680"/>
            <a:ext cx="548640" cy="548640"/>
          </a:xfrm>
          <a:prstGeom prst="rect">
            <a:avLst/>
          </a:prstGeom>
        </p:spPr>
      </p:pic>
      <p:pic>
        <p:nvPicPr>
          <p:cNvPr id="9" name="Image 4" descr="/home/claude/ppt2/icon_deskt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3644" y="2148840"/>
            <a:ext cx="274320" cy="27432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685800" y="2743200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Layer</a:t>
            </a:r>
            <a:endParaRPr lang="en-US" sz="1300" dirty="0"/>
          </a:p>
        </p:txBody>
      </p:sp>
      <p:sp>
        <p:nvSpPr>
          <p:cNvPr id="11" name="Shape 4"/>
          <p:cNvSpPr/>
          <p:nvPr/>
        </p:nvSpPr>
        <p:spPr>
          <a:xfrm>
            <a:off x="731520" y="3383280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5"/>
          <p:cNvSpPr/>
          <p:nvPr/>
        </p:nvSpPr>
        <p:spPr>
          <a:xfrm>
            <a:off x="868680" y="3264408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web UI (HTML/CSS/JS)</a:t>
            </a:r>
            <a:endParaRPr lang="en-US" sz="970" dirty="0"/>
          </a:p>
        </p:txBody>
      </p:sp>
      <p:sp>
        <p:nvSpPr>
          <p:cNvPr id="13" name="Shape 6"/>
          <p:cNvSpPr/>
          <p:nvPr/>
        </p:nvSpPr>
        <p:spPr>
          <a:xfrm>
            <a:off x="731520" y="4096512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Text 7"/>
          <p:cNvSpPr/>
          <p:nvPr/>
        </p:nvSpPr>
        <p:spPr>
          <a:xfrm>
            <a:off x="868680" y="3977640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 &amp; webcam capture</a:t>
            </a:r>
            <a:endParaRPr lang="en-US" sz="970" dirty="0"/>
          </a:p>
        </p:txBody>
      </p:sp>
      <p:sp>
        <p:nvSpPr>
          <p:cNvPr id="15" name="Shape 8"/>
          <p:cNvSpPr/>
          <p:nvPr/>
        </p:nvSpPr>
        <p:spPr>
          <a:xfrm>
            <a:off x="731520" y="4809744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Text 9"/>
          <p:cNvSpPr/>
          <p:nvPr/>
        </p:nvSpPr>
        <p:spPr>
          <a:xfrm>
            <a:off x="868680" y="4690872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Confidence-threshold control</a:t>
            </a:r>
            <a:endParaRPr lang="en-US" sz="970" dirty="0"/>
          </a:p>
        </p:txBody>
      </p:sp>
      <p:sp>
        <p:nvSpPr>
          <p:cNvPr id="17" name="Shape 10"/>
          <p:cNvSpPr/>
          <p:nvPr/>
        </p:nvSpPr>
        <p:spPr>
          <a:xfrm>
            <a:off x="3172968" y="3781044"/>
            <a:ext cx="146304" cy="237744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18" name="Shape 11"/>
          <p:cNvSpPr/>
          <p:nvPr/>
        </p:nvSpPr>
        <p:spPr>
          <a:xfrm>
            <a:off x="3319272" y="1783080"/>
            <a:ext cx="2624328" cy="4160520"/>
          </a:xfrm>
          <a:prstGeom prst="roundRect">
            <a:avLst>
              <a:gd name="adj" fmla="val 2787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19" name="Image 5" descr="/home/claude/ppt2/bar_gra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1779422"/>
            <a:ext cx="2404872" cy="36576"/>
          </a:xfrm>
          <a:prstGeom prst="rect">
            <a:avLst/>
          </a:prstGeom>
        </p:spPr>
      </p:pic>
      <p:pic>
        <p:nvPicPr>
          <p:cNvPr id="20" name="Image 6" descr="/home/claude/ppt2/circle_bad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7116" y="2011680"/>
            <a:ext cx="548640" cy="548640"/>
          </a:xfrm>
          <a:prstGeom prst="rect">
            <a:avLst/>
          </a:prstGeom>
        </p:spPr>
      </p:pic>
      <p:pic>
        <p:nvPicPr>
          <p:cNvPr id="21" name="Image 7" descr="/home/claude/ppt2/icon_serv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4276" y="2148840"/>
            <a:ext cx="274320" cy="27432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3456432" y="2743200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</a:t>
            </a:r>
            <a:endParaRPr lang="en-US" sz="1300" dirty="0"/>
          </a:p>
        </p:txBody>
      </p:sp>
      <p:sp>
        <p:nvSpPr>
          <p:cNvPr id="23" name="Shape 13"/>
          <p:cNvSpPr/>
          <p:nvPr/>
        </p:nvSpPr>
        <p:spPr>
          <a:xfrm>
            <a:off x="3502152" y="3383280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4" name="Text 14"/>
          <p:cNvSpPr/>
          <p:nvPr/>
        </p:nvSpPr>
        <p:spPr>
          <a:xfrm>
            <a:off x="3639312" y="3264408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on Render</a:t>
            </a:r>
            <a:endParaRPr lang="en-US" sz="970" dirty="0"/>
          </a:p>
        </p:txBody>
      </p:sp>
      <p:sp>
        <p:nvSpPr>
          <p:cNvPr id="25" name="Shape 15"/>
          <p:cNvSpPr/>
          <p:nvPr/>
        </p:nvSpPr>
        <p:spPr>
          <a:xfrm>
            <a:off x="3502152" y="4096512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6" name="Text 16"/>
          <p:cNvSpPr/>
          <p:nvPr/>
        </p:nvSpPr>
        <p:spPr>
          <a:xfrm>
            <a:off x="3639312" y="3977640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/predict, /health, /webcam routes</a:t>
            </a:r>
            <a:endParaRPr lang="en-US" sz="970" dirty="0"/>
          </a:p>
        </p:txBody>
      </p:sp>
      <p:sp>
        <p:nvSpPr>
          <p:cNvPr id="27" name="Shape 17"/>
          <p:cNvSpPr/>
          <p:nvPr/>
        </p:nvSpPr>
        <p:spPr>
          <a:xfrm>
            <a:off x="3502152" y="4809744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8" name="Text 18"/>
          <p:cNvSpPr/>
          <p:nvPr/>
        </p:nvSpPr>
        <p:spPr>
          <a:xfrm>
            <a:off x="3639312" y="4690872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validation &amp; JSON response</a:t>
            </a:r>
            <a:endParaRPr lang="en-US" sz="970" dirty="0"/>
          </a:p>
        </p:txBody>
      </p:sp>
      <p:sp>
        <p:nvSpPr>
          <p:cNvPr id="29" name="Shape 19"/>
          <p:cNvSpPr/>
          <p:nvPr/>
        </p:nvSpPr>
        <p:spPr>
          <a:xfrm>
            <a:off x="5943600" y="3781044"/>
            <a:ext cx="146304" cy="237744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30" name="Shape 20"/>
          <p:cNvSpPr/>
          <p:nvPr/>
        </p:nvSpPr>
        <p:spPr>
          <a:xfrm>
            <a:off x="6089904" y="1783080"/>
            <a:ext cx="2624328" cy="4160520"/>
          </a:xfrm>
          <a:prstGeom prst="roundRect">
            <a:avLst>
              <a:gd name="adj" fmla="val 2787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31" name="Image 8" descr="/home/claude/ppt2/bar_gra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9632" y="1779422"/>
            <a:ext cx="2404872" cy="36576"/>
          </a:xfrm>
          <a:prstGeom prst="rect">
            <a:avLst/>
          </a:prstGeom>
        </p:spPr>
      </p:pic>
      <p:pic>
        <p:nvPicPr>
          <p:cNvPr id="32" name="Image 9" descr="/home/claude/ppt2/circle_badg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7748" y="2011680"/>
            <a:ext cx="548640" cy="548640"/>
          </a:xfrm>
          <a:prstGeom prst="rect">
            <a:avLst/>
          </a:prstGeom>
        </p:spPr>
      </p:pic>
      <p:pic>
        <p:nvPicPr>
          <p:cNvPr id="33" name="Image 10" descr="/home/claude/ppt2/icon_brai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64908" y="2148840"/>
            <a:ext cx="274320" cy="27432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6227064" y="2743200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/ Inference Layer</a:t>
            </a:r>
            <a:endParaRPr lang="en-US" sz="1300" dirty="0"/>
          </a:p>
        </p:txBody>
      </p:sp>
      <p:sp>
        <p:nvSpPr>
          <p:cNvPr id="35" name="Shape 22"/>
          <p:cNvSpPr/>
          <p:nvPr/>
        </p:nvSpPr>
        <p:spPr>
          <a:xfrm>
            <a:off x="6272784" y="3383280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6" name="Text 23"/>
          <p:cNvSpPr/>
          <p:nvPr/>
        </p:nvSpPr>
        <p:spPr>
          <a:xfrm>
            <a:off x="6409944" y="3264408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 (best.pt) loaded in memory</a:t>
            </a:r>
            <a:endParaRPr lang="en-US" sz="970" dirty="0"/>
          </a:p>
        </p:txBody>
      </p:sp>
      <p:sp>
        <p:nvSpPr>
          <p:cNvPr id="37" name="Shape 24"/>
          <p:cNvSpPr/>
          <p:nvPr/>
        </p:nvSpPr>
        <p:spPr>
          <a:xfrm>
            <a:off x="6272784" y="4096512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8" name="Text 25"/>
          <p:cNvSpPr/>
          <p:nvPr/>
        </p:nvSpPr>
        <p:spPr>
          <a:xfrm>
            <a:off x="6409944" y="3977640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→ forward pass → NMS</a:t>
            </a:r>
            <a:endParaRPr lang="en-US" sz="970" dirty="0"/>
          </a:p>
        </p:txBody>
      </p:sp>
      <p:sp>
        <p:nvSpPr>
          <p:cNvPr id="39" name="Shape 26"/>
          <p:cNvSpPr/>
          <p:nvPr/>
        </p:nvSpPr>
        <p:spPr>
          <a:xfrm>
            <a:off x="6272784" y="4809744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0" name="Text 27"/>
          <p:cNvSpPr/>
          <p:nvPr/>
        </p:nvSpPr>
        <p:spPr>
          <a:xfrm>
            <a:off x="6409944" y="4690872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class, bbox, confidence</a:t>
            </a:r>
            <a:endParaRPr lang="en-US" sz="970" dirty="0"/>
          </a:p>
        </p:txBody>
      </p:sp>
      <p:sp>
        <p:nvSpPr>
          <p:cNvPr id="41" name="Shape 28"/>
          <p:cNvSpPr/>
          <p:nvPr/>
        </p:nvSpPr>
        <p:spPr>
          <a:xfrm>
            <a:off x="8714232" y="3781044"/>
            <a:ext cx="146304" cy="237744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42" name="Shape 29"/>
          <p:cNvSpPr/>
          <p:nvPr/>
        </p:nvSpPr>
        <p:spPr>
          <a:xfrm>
            <a:off x="8860536" y="1783080"/>
            <a:ext cx="2624328" cy="4160520"/>
          </a:xfrm>
          <a:prstGeom prst="roundRect">
            <a:avLst>
              <a:gd name="adj" fmla="val 2787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43" name="Image 11" descr="/home/claude/ppt2/bar_gra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70264" y="1779422"/>
            <a:ext cx="2404872" cy="36576"/>
          </a:xfrm>
          <a:prstGeom prst="rect">
            <a:avLst/>
          </a:prstGeom>
        </p:spPr>
      </p:pic>
      <p:pic>
        <p:nvPicPr>
          <p:cNvPr id="44" name="Image 12" descr="/home/claude/ppt2/circle_badg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98380" y="2011680"/>
            <a:ext cx="548640" cy="548640"/>
          </a:xfrm>
          <a:prstGeom prst="rect">
            <a:avLst/>
          </a:prstGeom>
        </p:spPr>
      </p:pic>
      <p:pic>
        <p:nvPicPr>
          <p:cNvPr id="45" name="Image 13" descr="/home/claude/ppt2/icon_clou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35540" y="2148840"/>
            <a:ext cx="274320" cy="274320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8997696" y="2743200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Layer</a:t>
            </a:r>
            <a:endParaRPr lang="en-US" sz="1300" dirty="0"/>
          </a:p>
        </p:txBody>
      </p:sp>
      <p:sp>
        <p:nvSpPr>
          <p:cNvPr id="47" name="Shape 31"/>
          <p:cNvSpPr/>
          <p:nvPr/>
        </p:nvSpPr>
        <p:spPr>
          <a:xfrm>
            <a:off x="9043416" y="3383280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8" name="Text 32"/>
          <p:cNvSpPr/>
          <p:nvPr/>
        </p:nvSpPr>
        <p:spPr>
          <a:xfrm>
            <a:off x="9180576" y="3264408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cloud hosting (HTTPS)</a:t>
            </a:r>
            <a:endParaRPr lang="en-US" sz="970" dirty="0"/>
          </a:p>
        </p:txBody>
      </p:sp>
      <p:sp>
        <p:nvSpPr>
          <p:cNvPr id="49" name="Shape 33"/>
          <p:cNvSpPr/>
          <p:nvPr/>
        </p:nvSpPr>
        <p:spPr>
          <a:xfrm>
            <a:off x="9043416" y="4096512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0" name="Text 34"/>
          <p:cNvSpPr/>
          <p:nvPr/>
        </p:nvSpPr>
        <p:spPr>
          <a:xfrm>
            <a:off x="9180576" y="3977640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Git/GitHub CI on push</a:t>
            </a:r>
            <a:endParaRPr lang="en-US" sz="970" dirty="0"/>
          </a:p>
        </p:txBody>
      </p:sp>
      <p:sp>
        <p:nvSpPr>
          <p:cNvPr id="51" name="Shape 35"/>
          <p:cNvSpPr/>
          <p:nvPr/>
        </p:nvSpPr>
        <p:spPr>
          <a:xfrm>
            <a:off x="9043416" y="4809744"/>
            <a:ext cx="64008" cy="640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2" name="Text 36"/>
          <p:cNvSpPr/>
          <p:nvPr/>
        </p:nvSpPr>
        <p:spPr>
          <a:xfrm>
            <a:off x="9180576" y="4690872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model/artifact storage</a:t>
            </a:r>
            <a:endParaRPr lang="en-US" sz="970" dirty="0"/>
          </a:p>
        </p:txBody>
      </p:sp>
      <p:sp>
        <p:nvSpPr>
          <p:cNvPr id="53" name="Text 37"/>
          <p:cNvSpPr/>
          <p:nvPr/>
        </p:nvSpPr>
        <p:spPr>
          <a:xfrm>
            <a:off x="111099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2/glow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377440" y="3108960"/>
            <a:ext cx="4937760" cy="4937760"/>
          </a:xfrm>
          <a:prstGeom prst="rect">
            <a:avLst/>
          </a:prstGeom>
        </p:spPr>
      </p:pic>
      <p:pic>
        <p:nvPicPr>
          <p:cNvPr id="3" name="Image 1" descr="/home/claude/ppt2/glow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-2194560"/>
            <a:ext cx="4937760" cy="4937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METHODOLOGY — STEP 10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and industrial conveyor-belt design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548640" y="153619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detection core extends beyond single-image uploads to continuous, real-time monitoring — the foundation for automated industrial waste sorting.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548640" y="21945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8" name="Image 2" descr="/home/claude/ppt2/circle_fl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2377440"/>
            <a:ext cx="502920" cy="502920"/>
          </a:xfrm>
          <a:prstGeom prst="rect">
            <a:avLst/>
          </a:prstGeom>
        </p:spPr>
      </p:pic>
      <p:pic>
        <p:nvPicPr>
          <p:cNvPr id="9" name="Image 3" descr="/home/claude/ppt2/icon_vide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3030" y="2503170"/>
            <a:ext cx="251460" cy="2514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0080" y="3063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100" dirty="0"/>
          </a:p>
        </p:txBody>
      </p:sp>
      <p:sp>
        <p:nvSpPr>
          <p:cNvPr id="11" name="Shape 5"/>
          <p:cNvSpPr/>
          <p:nvPr/>
        </p:nvSpPr>
        <p:spPr>
          <a:xfrm>
            <a:off x="2441448" y="2834640"/>
            <a:ext cx="237744" cy="146304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12" name="Shape 6"/>
          <p:cNvSpPr/>
          <p:nvPr/>
        </p:nvSpPr>
        <p:spPr>
          <a:xfrm>
            <a:off x="2651760" y="21945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13" name="Image 4" descr="/home/claude/ppt2/circle_fla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0420" y="2377440"/>
            <a:ext cx="502920" cy="502920"/>
          </a:xfrm>
          <a:prstGeom prst="rect">
            <a:avLst/>
          </a:prstGeom>
        </p:spPr>
      </p:pic>
      <p:pic>
        <p:nvPicPr>
          <p:cNvPr id="14" name="Image 5" descr="/home/claude/ppt2/icon_cog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6150" y="2503170"/>
            <a:ext cx="251460" cy="25146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743200" y="3063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 Belt</a:t>
            </a:r>
            <a:endParaRPr lang="en-US" sz="1100" dirty="0"/>
          </a:p>
        </p:txBody>
      </p:sp>
      <p:sp>
        <p:nvSpPr>
          <p:cNvPr id="16" name="Shape 8"/>
          <p:cNvSpPr/>
          <p:nvPr/>
        </p:nvSpPr>
        <p:spPr>
          <a:xfrm>
            <a:off x="4544568" y="2834640"/>
            <a:ext cx="237744" cy="146304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17" name="Shape 9"/>
          <p:cNvSpPr/>
          <p:nvPr/>
        </p:nvSpPr>
        <p:spPr>
          <a:xfrm>
            <a:off x="4754880" y="21945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18" name="Image 6" descr="/home/claude/ppt2/circle_fla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3540" y="2377440"/>
            <a:ext cx="502920" cy="502920"/>
          </a:xfrm>
          <a:prstGeom prst="rect">
            <a:avLst/>
          </a:prstGeom>
        </p:spPr>
      </p:pic>
      <p:pic>
        <p:nvPicPr>
          <p:cNvPr id="19" name="Image 7" descr="/home/claude/ppt2/icon_ima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9270" y="2503170"/>
            <a:ext cx="251460" cy="25146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4846320" y="3063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Capture</a:t>
            </a:r>
            <a:endParaRPr lang="en-US" sz="1100" dirty="0"/>
          </a:p>
        </p:txBody>
      </p:sp>
      <p:sp>
        <p:nvSpPr>
          <p:cNvPr id="21" name="Shape 11"/>
          <p:cNvSpPr/>
          <p:nvPr/>
        </p:nvSpPr>
        <p:spPr>
          <a:xfrm>
            <a:off x="6647688" y="2834640"/>
            <a:ext cx="237744" cy="146304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22" name="Shape 12"/>
          <p:cNvSpPr/>
          <p:nvPr/>
        </p:nvSpPr>
        <p:spPr>
          <a:xfrm>
            <a:off x="6858000" y="21945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23" name="Image 8" descr="/home/claude/ppt2/circle_fla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66660" y="2377440"/>
            <a:ext cx="502920" cy="502920"/>
          </a:xfrm>
          <a:prstGeom prst="rect">
            <a:avLst/>
          </a:prstGeom>
        </p:spPr>
      </p:pic>
      <p:pic>
        <p:nvPicPr>
          <p:cNvPr id="24" name="Image 9" descr="/home/claude/ppt2/icon_brai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2390" y="2503170"/>
            <a:ext cx="251460" cy="25146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6949440" y="3063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Detection</a:t>
            </a:r>
            <a:endParaRPr lang="en-US" sz="1100" dirty="0"/>
          </a:p>
        </p:txBody>
      </p:sp>
      <p:sp>
        <p:nvSpPr>
          <p:cNvPr id="26" name="Shape 14"/>
          <p:cNvSpPr/>
          <p:nvPr/>
        </p:nvSpPr>
        <p:spPr>
          <a:xfrm>
            <a:off x="8750808" y="2834640"/>
            <a:ext cx="237744" cy="146304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27" name="Shape 15"/>
          <p:cNvSpPr/>
          <p:nvPr/>
        </p:nvSpPr>
        <p:spPr>
          <a:xfrm>
            <a:off x="8961120" y="219456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28" name="Image 10" descr="/home/claude/ppt2/circle_fla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69780" y="2377440"/>
            <a:ext cx="502920" cy="502920"/>
          </a:xfrm>
          <a:prstGeom prst="rect">
            <a:avLst/>
          </a:prstGeom>
        </p:spPr>
      </p:pic>
      <p:pic>
        <p:nvPicPr>
          <p:cNvPr id="29" name="Image 11" descr="/home/claude/ppt2/icon_tags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95510" y="2503170"/>
            <a:ext cx="251460" cy="251460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9052560" y="3063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31" name="Shape 17"/>
          <p:cNvSpPr/>
          <p:nvPr/>
        </p:nvSpPr>
        <p:spPr>
          <a:xfrm>
            <a:off x="548640" y="41605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0C1220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32" name="Image 12" descr="/home/claude/ppt2/circle_badg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520" y="4343400"/>
            <a:ext cx="502920" cy="502920"/>
          </a:xfrm>
          <a:prstGeom prst="rect">
            <a:avLst/>
          </a:prstGeom>
        </p:spPr>
      </p:pic>
      <p:pic>
        <p:nvPicPr>
          <p:cNvPr id="33" name="Image 13" descr="/home/claude/ppt2/icon_shiel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7250" y="4469130"/>
            <a:ext cx="251460" cy="251460"/>
          </a:xfrm>
          <a:prstGeom prst="rect">
            <a:avLst/>
          </a:prstGeom>
        </p:spPr>
      </p:pic>
      <p:sp>
        <p:nvSpPr>
          <p:cNvPr id="34" name="Text 18"/>
          <p:cNvSpPr/>
          <p:nvPr/>
        </p:nvSpPr>
        <p:spPr>
          <a:xfrm>
            <a:off x="1417320" y="437997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Alert</a:t>
            </a:r>
            <a:endParaRPr lang="en-US" sz="1250" dirty="0"/>
          </a:p>
        </p:txBody>
      </p:sp>
      <p:sp>
        <p:nvSpPr>
          <p:cNvPr id="35" name="Text 19"/>
          <p:cNvSpPr/>
          <p:nvPr/>
        </p:nvSpPr>
        <p:spPr>
          <a:xfrm>
            <a:off x="731520" y="49377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Confidence-based accept/reject; alert triggered for hazardous items</a:t>
            </a:r>
            <a:endParaRPr lang="en-US" sz="980" dirty="0"/>
          </a:p>
        </p:txBody>
      </p:sp>
      <p:sp>
        <p:nvSpPr>
          <p:cNvPr id="36" name="Shape 20"/>
          <p:cNvSpPr/>
          <p:nvPr/>
        </p:nvSpPr>
        <p:spPr>
          <a:xfrm>
            <a:off x="4343400" y="41605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0C1220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37" name="Image 14" descr="/home/claude/ppt2/circle_badg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26280" y="4343400"/>
            <a:ext cx="502920" cy="502920"/>
          </a:xfrm>
          <a:prstGeom prst="rect">
            <a:avLst/>
          </a:prstGeom>
        </p:spPr>
      </p:pic>
      <p:pic>
        <p:nvPicPr>
          <p:cNvPr id="38" name="Image 15" descr="/home/claude/ppt2/icon_sitemap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52010" y="4469130"/>
            <a:ext cx="251460" cy="251460"/>
          </a:xfrm>
          <a:prstGeom prst="rect">
            <a:avLst/>
          </a:prstGeom>
        </p:spPr>
      </p:pic>
      <p:sp>
        <p:nvSpPr>
          <p:cNvPr id="39" name="Text 21"/>
          <p:cNvSpPr/>
          <p:nvPr/>
        </p:nvSpPr>
        <p:spPr>
          <a:xfrm>
            <a:off x="5212080" y="437997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Sorting</a:t>
            </a:r>
            <a:endParaRPr lang="en-US" sz="1250" dirty="0"/>
          </a:p>
        </p:txBody>
      </p:sp>
      <p:sp>
        <p:nvSpPr>
          <p:cNvPr id="40" name="Text 22"/>
          <p:cNvSpPr/>
          <p:nvPr/>
        </p:nvSpPr>
        <p:spPr>
          <a:xfrm>
            <a:off x="4526280" y="49377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sent to robotic arm or sorting mechanism</a:t>
            </a:r>
            <a:endParaRPr lang="en-US" sz="980" dirty="0"/>
          </a:p>
        </p:txBody>
      </p:sp>
      <p:sp>
        <p:nvSpPr>
          <p:cNvPr id="41" name="Shape 23"/>
          <p:cNvSpPr/>
          <p:nvPr/>
        </p:nvSpPr>
        <p:spPr>
          <a:xfrm>
            <a:off x="8138160" y="41605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0C1220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42" name="Image 16" descr="/home/claude/ppt2/circle_badg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21040" y="4343400"/>
            <a:ext cx="502920" cy="502920"/>
          </a:xfrm>
          <a:prstGeom prst="rect">
            <a:avLst/>
          </a:prstGeom>
        </p:spPr>
      </p:pic>
      <p:pic>
        <p:nvPicPr>
          <p:cNvPr id="43" name="Image 17" descr="/home/claude/ppt2/icon_clipboar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46770" y="4469130"/>
            <a:ext cx="251460" cy="251460"/>
          </a:xfrm>
          <a:prstGeom prst="rect">
            <a:avLst/>
          </a:prstGeom>
        </p:spPr>
      </p:pic>
      <p:sp>
        <p:nvSpPr>
          <p:cNvPr id="44" name="Text 24"/>
          <p:cNvSpPr/>
          <p:nvPr/>
        </p:nvSpPr>
        <p:spPr>
          <a:xfrm>
            <a:off x="9006840" y="437997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&amp; Audit</a:t>
            </a:r>
            <a:endParaRPr lang="en-US" sz="1250" dirty="0"/>
          </a:p>
        </p:txBody>
      </p:sp>
      <p:sp>
        <p:nvSpPr>
          <p:cNvPr id="45" name="Text 25"/>
          <p:cNvSpPr/>
          <p:nvPr/>
        </p:nvSpPr>
        <p:spPr>
          <a:xfrm>
            <a:off x="8321040" y="49377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event, class and confidence logged for traceability</a:t>
            </a:r>
            <a:endParaRPr lang="en-US" sz="980" dirty="0"/>
          </a:p>
        </p:txBody>
      </p:sp>
      <p:sp>
        <p:nvSpPr>
          <p:cNvPr id="46" name="Text 26"/>
          <p:cNvSpPr/>
          <p:nvPr/>
        </p:nvSpPr>
        <p:spPr>
          <a:xfrm>
            <a:off x="111099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2/glow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560320" y="-2560320"/>
            <a:ext cx="4754880" cy="4754880"/>
          </a:xfrm>
          <a:prstGeom prst="rect">
            <a:avLst/>
          </a:prstGeom>
        </p:spPr>
      </p:pic>
      <p:pic>
        <p:nvPicPr>
          <p:cNvPr id="3" name="Image 1" descr="/home/claude/ppt2/glow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206240"/>
            <a:ext cx="4754880" cy="47548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TECHNOLOGY STACK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across the pipeline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828800"/>
            <a:ext cx="2086661" cy="1783080"/>
          </a:xfrm>
          <a:prstGeom prst="roundRect">
            <a:avLst>
              <a:gd name="adj" fmla="val 4103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7" name="Image 2" descr="/home/claude/ppt2/circle_fl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650" y="2057400"/>
            <a:ext cx="548640" cy="548640"/>
          </a:xfrm>
          <a:prstGeom prst="rect">
            <a:avLst/>
          </a:prstGeom>
        </p:spPr>
      </p:pic>
      <p:pic>
        <p:nvPicPr>
          <p:cNvPr id="8" name="Image 3" descr="/home/claude/ppt2/icon_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4810" y="2194560"/>
            <a:ext cx="274320" cy="27432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0080" y="2743200"/>
            <a:ext cx="190378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640080" y="3145536"/>
            <a:ext cx="190378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870" dirty="0"/>
          </a:p>
        </p:txBody>
      </p:sp>
      <p:sp>
        <p:nvSpPr>
          <p:cNvPr id="11" name="Shape 5"/>
          <p:cNvSpPr/>
          <p:nvPr/>
        </p:nvSpPr>
        <p:spPr>
          <a:xfrm>
            <a:off x="2799893" y="1828800"/>
            <a:ext cx="2086661" cy="1783080"/>
          </a:xfrm>
          <a:prstGeom prst="roundRect">
            <a:avLst>
              <a:gd name="adj" fmla="val 4103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12" name="Image 4" descr="/home/claude/ppt2/circle_fla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8903" y="2057400"/>
            <a:ext cx="548640" cy="548640"/>
          </a:xfrm>
          <a:prstGeom prst="rect">
            <a:avLst/>
          </a:prstGeom>
        </p:spPr>
      </p:pic>
      <p:pic>
        <p:nvPicPr>
          <p:cNvPr id="13" name="Image 5" descr="/home/claude/ppt2/icon_bra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6063" y="2194560"/>
            <a:ext cx="274320" cy="27432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2891333" y="2743200"/>
            <a:ext cx="190378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100" dirty="0"/>
          </a:p>
        </p:txBody>
      </p:sp>
      <p:sp>
        <p:nvSpPr>
          <p:cNvPr id="15" name="Text 7"/>
          <p:cNvSpPr/>
          <p:nvPr/>
        </p:nvSpPr>
        <p:spPr>
          <a:xfrm>
            <a:off x="2891333" y="3145536"/>
            <a:ext cx="190378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Framework</a:t>
            </a:r>
            <a:endParaRPr lang="en-US" sz="870" dirty="0"/>
          </a:p>
        </p:txBody>
      </p:sp>
      <p:sp>
        <p:nvSpPr>
          <p:cNvPr id="16" name="Shape 8"/>
          <p:cNvSpPr/>
          <p:nvPr/>
        </p:nvSpPr>
        <p:spPr>
          <a:xfrm>
            <a:off x="5051146" y="1828800"/>
            <a:ext cx="2086661" cy="1783080"/>
          </a:xfrm>
          <a:prstGeom prst="roundRect">
            <a:avLst>
              <a:gd name="adj" fmla="val 4103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17" name="Image 6" descr="/home/claude/ppt2/circle_fla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0156" y="2057400"/>
            <a:ext cx="548640" cy="548640"/>
          </a:xfrm>
          <a:prstGeom prst="rect">
            <a:avLst/>
          </a:prstGeom>
        </p:spPr>
      </p:pic>
      <p:pic>
        <p:nvPicPr>
          <p:cNvPr id="18" name="Image 7" descr="/home/claude/ppt2/icon_cub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7316" y="2194560"/>
            <a:ext cx="274320" cy="27432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5142586" y="2743200"/>
            <a:ext cx="190378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/ Ultralytics</a:t>
            </a:r>
            <a:endParaRPr lang="en-US" sz="1100" dirty="0"/>
          </a:p>
        </p:txBody>
      </p:sp>
      <p:sp>
        <p:nvSpPr>
          <p:cNvPr id="20" name="Text 10"/>
          <p:cNvSpPr/>
          <p:nvPr/>
        </p:nvSpPr>
        <p:spPr>
          <a:xfrm>
            <a:off x="5142586" y="3145536"/>
            <a:ext cx="190378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870" dirty="0"/>
          </a:p>
        </p:txBody>
      </p:sp>
      <p:sp>
        <p:nvSpPr>
          <p:cNvPr id="21" name="Shape 11"/>
          <p:cNvSpPr/>
          <p:nvPr/>
        </p:nvSpPr>
        <p:spPr>
          <a:xfrm>
            <a:off x="7302398" y="1828800"/>
            <a:ext cx="2086661" cy="1783080"/>
          </a:xfrm>
          <a:prstGeom prst="roundRect">
            <a:avLst>
              <a:gd name="adj" fmla="val 4103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22" name="Image 8" descr="/home/claude/ppt2/circle_fla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71409" y="2057400"/>
            <a:ext cx="548640" cy="548640"/>
          </a:xfrm>
          <a:prstGeom prst="rect">
            <a:avLst/>
          </a:prstGeom>
        </p:spPr>
      </p:pic>
      <p:pic>
        <p:nvPicPr>
          <p:cNvPr id="23" name="Image 9" descr="/home/claude/ppt2/icon_camera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08569" y="2194560"/>
            <a:ext cx="274320" cy="274320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7393838" y="2743200"/>
            <a:ext cx="190378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100" dirty="0"/>
          </a:p>
        </p:txBody>
      </p:sp>
      <p:sp>
        <p:nvSpPr>
          <p:cNvPr id="25" name="Text 13"/>
          <p:cNvSpPr/>
          <p:nvPr/>
        </p:nvSpPr>
        <p:spPr>
          <a:xfrm>
            <a:off x="7393838" y="3145536"/>
            <a:ext cx="190378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870" dirty="0"/>
          </a:p>
        </p:txBody>
      </p:sp>
      <p:sp>
        <p:nvSpPr>
          <p:cNvPr id="26" name="Shape 14"/>
          <p:cNvSpPr/>
          <p:nvPr/>
        </p:nvSpPr>
        <p:spPr>
          <a:xfrm>
            <a:off x="9553651" y="1828800"/>
            <a:ext cx="2086661" cy="1783080"/>
          </a:xfrm>
          <a:prstGeom prst="roundRect">
            <a:avLst>
              <a:gd name="adj" fmla="val 4103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27" name="Image 10" descr="/home/claude/ppt2/circle_fla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22662" y="2057400"/>
            <a:ext cx="548640" cy="548640"/>
          </a:xfrm>
          <a:prstGeom prst="rect">
            <a:avLst/>
          </a:prstGeom>
        </p:spPr>
      </p:pic>
      <p:pic>
        <p:nvPicPr>
          <p:cNvPr id="28" name="Image 11" descr="/home/claude/ppt2/icon_sliders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59822" y="2194560"/>
            <a:ext cx="274320" cy="27432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9645091" y="2743200"/>
            <a:ext cx="190378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</a:t>
            </a:r>
            <a:endParaRPr lang="en-US" sz="1100" dirty="0"/>
          </a:p>
        </p:txBody>
      </p:sp>
      <p:sp>
        <p:nvSpPr>
          <p:cNvPr id="30" name="Text 16"/>
          <p:cNvSpPr/>
          <p:nvPr/>
        </p:nvSpPr>
        <p:spPr>
          <a:xfrm>
            <a:off x="9645091" y="3145536"/>
            <a:ext cx="190378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Augmentation</a:t>
            </a:r>
            <a:endParaRPr lang="en-US" sz="870" dirty="0"/>
          </a:p>
        </p:txBody>
      </p:sp>
      <p:sp>
        <p:nvSpPr>
          <p:cNvPr id="31" name="Shape 17"/>
          <p:cNvSpPr/>
          <p:nvPr/>
        </p:nvSpPr>
        <p:spPr>
          <a:xfrm>
            <a:off x="548640" y="3813048"/>
            <a:ext cx="2086661" cy="1783080"/>
          </a:xfrm>
          <a:prstGeom prst="roundRect">
            <a:avLst>
              <a:gd name="adj" fmla="val 4103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32" name="Image 12" descr="/home/claude/ppt2/circle_fla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17650" y="4041648"/>
            <a:ext cx="548640" cy="548640"/>
          </a:xfrm>
          <a:prstGeom prst="rect">
            <a:avLst/>
          </a:prstGeom>
        </p:spPr>
      </p:pic>
      <p:pic>
        <p:nvPicPr>
          <p:cNvPr id="33" name="Image 13" descr="/home/claude/ppt2/icon_clou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54810" y="4178808"/>
            <a:ext cx="274320" cy="274320"/>
          </a:xfrm>
          <a:prstGeom prst="rect">
            <a:avLst/>
          </a:prstGeom>
        </p:spPr>
      </p:pic>
      <p:sp>
        <p:nvSpPr>
          <p:cNvPr id="34" name="Text 18"/>
          <p:cNvSpPr/>
          <p:nvPr/>
        </p:nvSpPr>
        <p:spPr>
          <a:xfrm>
            <a:off x="640080" y="4727448"/>
            <a:ext cx="190378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/ Drive</a:t>
            </a:r>
            <a:endParaRPr lang="en-US" sz="1100" dirty="0"/>
          </a:p>
        </p:txBody>
      </p:sp>
      <p:sp>
        <p:nvSpPr>
          <p:cNvPr id="35" name="Text 19"/>
          <p:cNvSpPr/>
          <p:nvPr/>
        </p:nvSpPr>
        <p:spPr>
          <a:xfrm>
            <a:off x="640080" y="5129784"/>
            <a:ext cx="190378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Storage</a:t>
            </a:r>
            <a:endParaRPr lang="en-US" sz="870" dirty="0"/>
          </a:p>
        </p:txBody>
      </p:sp>
      <p:sp>
        <p:nvSpPr>
          <p:cNvPr id="36" name="Shape 20"/>
          <p:cNvSpPr/>
          <p:nvPr/>
        </p:nvSpPr>
        <p:spPr>
          <a:xfrm>
            <a:off x="2799893" y="3813048"/>
            <a:ext cx="2086661" cy="1783080"/>
          </a:xfrm>
          <a:prstGeom prst="roundRect">
            <a:avLst>
              <a:gd name="adj" fmla="val 4103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37" name="Image 14" descr="/home/claude/ppt2/circle_flat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68903" y="4041648"/>
            <a:ext cx="548640" cy="548640"/>
          </a:xfrm>
          <a:prstGeom prst="rect">
            <a:avLst/>
          </a:prstGeom>
        </p:spPr>
      </p:pic>
      <p:pic>
        <p:nvPicPr>
          <p:cNvPr id="38" name="Image 15" descr="/home/claude/ppt2/icon_bolt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06063" y="4178808"/>
            <a:ext cx="274320" cy="274320"/>
          </a:xfrm>
          <a:prstGeom prst="rect">
            <a:avLst/>
          </a:prstGeom>
        </p:spPr>
      </p:pic>
      <p:sp>
        <p:nvSpPr>
          <p:cNvPr id="39" name="Text 21"/>
          <p:cNvSpPr/>
          <p:nvPr/>
        </p:nvSpPr>
        <p:spPr>
          <a:xfrm>
            <a:off x="2891333" y="4727448"/>
            <a:ext cx="190378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100" dirty="0"/>
          </a:p>
        </p:txBody>
      </p:sp>
      <p:sp>
        <p:nvSpPr>
          <p:cNvPr id="40" name="Text 22"/>
          <p:cNvSpPr/>
          <p:nvPr/>
        </p:nvSpPr>
        <p:spPr>
          <a:xfrm>
            <a:off x="2891333" y="5129784"/>
            <a:ext cx="190378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</a:t>
            </a:r>
            <a:endParaRPr lang="en-US" sz="870" dirty="0"/>
          </a:p>
        </p:txBody>
      </p:sp>
      <p:sp>
        <p:nvSpPr>
          <p:cNvPr id="41" name="Shape 23"/>
          <p:cNvSpPr/>
          <p:nvPr/>
        </p:nvSpPr>
        <p:spPr>
          <a:xfrm>
            <a:off x="5051146" y="3813048"/>
            <a:ext cx="2086661" cy="1783080"/>
          </a:xfrm>
          <a:prstGeom prst="roundRect">
            <a:avLst>
              <a:gd name="adj" fmla="val 4103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42" name="Image 16" descr="/home/claude/ppt2/circle_flat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20156" y="4041648"/>
            <a:ext cx="548640" cy="548640"/>
          </a:xfrm>
          <a:prstGeom prst="rect">
            <a:avLst/>
          </a:prstGeom>
        </p:spPr>
      </p:pic>
      <p:pic>
        <p:nvPicPr>
          <p:cNvPr id="43" name="Image 17" descr="/home/claude/ppt2/icon_glob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57316" y="4178808"/>
            <a:ext cx="274320" cy="274320"/>
          </a:xfrm>
          <a:prstGeom prst="rect">
            <a:avLst/>
          </a:prstGeom>
        </p:spPr>
      </p:pic>
      <p:sp>
        <p:nvSpPr>
          <p:cNvPr id="44" name="Text 24"/>
          <p:cNvSpPr/>
          <p:nvPr/>
        </p:nvSpPr>
        <p:spPr>
          <a:xfrm>
            <a:off x="5142586" y="4727448"/>
            <a:ext cx="190378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JS</a:t>
            </a:r>
            <a:endParaRPr lang="en-US" sz="1100" dirty="0"/>
          </a:p>
        </p:txBody>
      </p:sp>
      <p:sp>
        <p:nvSpPr>
          <p:cNvPr id="45" name="Text 25"/>
          <p:cNvSpPr/>
          <p:nvPr/>
        </p:nvSpPr>
        <p:spPr>
          <a:xfrm>
            <a:off x="5142586" y="5129784"/>
            <a:ext cx="190378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70" dirty="0"/>
          </a:p>
        </p:txBody>
      </p:sp>
      <p:sp>
        <p:nvSpPr>
          <p:cNvPr id="46" name="Shape 26"/>
          <p:cNvSpPr/>
          <p:nvPr/>
        </p:nvSpPr>
        <p:spPr>
          <a:xfrm>
            <a:off x="7302398" y="3813048"/>
            <a:ext cx="2086661" cy="1783080"/>
          </a:xfrm>
          <a:prstGeom prst="roundRect">
            <a:avLst>
              <a:gd name="adj" fmla="val 4103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47" name="Image 18" descr="/home/claude/ppt2/circle_flat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71409" y="4041648"/>
            <a:ext cx="548640" cy="548640"/>
          </a:xfrm>
          <a:prstGeom prst="rect">
            <a:avLst/>
          </a:prstGeom>
        </p:spPr>
      </p:pic>
      <p:pic>
        <p:nvPicPr>
          <p:cNvPr id="48" name="Image 19" descr="/home/claude/ppt2/icon_rocket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08569" y="4178808"/>
            <a:ext cx="274320" cy="274320"/>
          </a:xfrm>
          <a:prstGeom prst="rect">
            <a:avLst/>
          </a:prstGeom>
        </p:spPr>
      </p:pic>
      <p:sp>
        <p:nvSpPr>
          <p:cNvPr id="49" name="Text 27"/>
          <p:cNvSpPr/>
          <p:nvPr/>
        </p:nvSpPr>
        <p:spPr>
          <a:xfrm>
            <a:off x="7393838" y="4727448"/>
            <a:ext cx="190378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100" dirty="0"/>
          </a:p>
        </p:txBody>
      </p:sp>
      <p:sp>
        <p:nvSpPr>
          <p:cNvPr id="50" name="Text 28"/>
          <p:cNvSpPr/>
          <p:nvPr/>
        </p:nvSpPr>
        <p:spPr>
          <a:xfrm>
            <a:off x="7393838" y="5129784"/>
            <a:ext cx="190378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70" dirty="0"/>
          </a:p>
        </p:txBody>
      </p:sp>
      <p:sp>
        <p:nvSpPr>
          <p:cNvPr id="51" name="Shape 29"/>
          <p:cNvSpPr/>
          <p:nvPr/>
        </p:nvSpPr>
        <p:spPr>
          <a:xfrm>
            <a:off x="9553651" y="3813048"/>
            <a:ext cx="2086661" cy="1783080"/>
          </a:xfrm>
          <a:prstGeom prst="roundRect">
            <a:avLst>
              <a:gd name="adj" fmla="val 4103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52" name="Image 20" descr="/home/claude/ppt2/circle_flat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22662" y="4041648"/>
            <a:ext cx="548640" cy="548640"/>
          </a:xfrm>
          <a:prstGeom prst="rect">
            <a:avLst/>
          </a:prstGeom>
        </p:spPr>
      </p:pic>
      <p:pic>
        <p:nvPicPr>
          <p:cNvPr id="53" name="Image 21" descr="/home/claude/ppt2/icon_link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59822" y="4178808"/>
            <a:ext cx="274320" cy="274320"/>
          </a:xfrm>
          <a:prstGeom prst="rect">
            <a:avLst/>
          </a:prstGeom>
        </p:spPr>
      </p:pic>
      <p:sp>
        <p:nvSpPr>
          <p:cNvPr id="54" name="Text 30"/>
          <p:cNvSpPr/>
          <p:nvPr/>
        </p:nvSpPr>
        <p:spPr>
          <a:xfrm>
            <a:off x="9645091" y="4727448"/>
            <a:ext cx="190378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100" dirty="0"/>
          </a:p>
        </p:txBody>
      </p:sp>
      <p:sp>
        <p:nvSpPr>
          <p:cNvPr id="55" name="Text 31"/>
          <p:cNvSpPr/>
          <p:nvPr/>
        </p:nvSpPr>
        <p:spPr>
          <a:xfrm>
            <a:off x="9645091" y="5129784"/>
            <a:ext cx="190378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7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870" dirty="0"/>
          </a:p>
        </p:txBody>
      </p:sp>
      <p:sp>
        <p:nvSpPr>
          <p:cNvPr id="56" name="Text 32"/>
          <p:cNvSpPr/>
          <p:nvPr/>
        </p:nvSpPr>
        <p:spPr>
          <a:xfrm>
            <a:off x="111099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2/glow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377440" y="3108960"/>
            <a:ext cx="4937760" cy="4937760"/>
          </a:xfrm>
          <a:prstGeom prst="rect">
            <a:avLst/>
          </a:prstGeom>
        </p:spPr>
      </p:pic>
      <p:pic>
        <p:nvPicPr>
          <p:cNvPr id="3" name="Image 1" descr="/home/claude/ppt2/glow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-2194560"/>
            <a:ext cx="4937760" cy="4937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EXPECTED OUTCOME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reliable, deployable detection system</a:t>
            </a:r>
            <a:endParaRPr lang="en-US" sz="3000" dirty="0"/>
          </a:p>
        </p:txBody>
      </p:sp>
      <p:pic>
        <p:nvPicPr>
          <p:cNvPr id="6" name="Image 2" descr="/home/claude/ppt2/circle_fl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365760" cy="365760"/>
          </a:xfrm>
          <a:prstGeom prst="rect">
            <a:avLst/>
          </a:prstGeom>
        </p:spPr>
      </p:pic>
      <p:pic>
        <p:nvPicPr>
          <p:cNvPr id="7" name="Image 3" descr="/home/claude/ppt2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874520"/>
            <a:ext cx="182880" cy="18288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051560" y="1764792"/>
            <a:ext cx="4681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cylinders and shock absorbers accurately</a:t>
            </a:r>
            <a:endParaRPr lang="en-US" sz="1250" dirty="0"/>
          </a:p>
        </p:txBody>
      </p:sp>
      <p:pic>
        <p:nvPicPr>
          <p:cNvPr id="9" name="Image 4" descr="/home/claude/ppt2/circle_fla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783080"/>
            <a:ext cx="365760" cy="365760"/>
          </a:xfrm>
          <a:prstGeom prst="rect">
            <a:avLst/>
          </a:prstGeom>
        </p:spPr>
      </p:pic>
      <p:pic>
        <p:nvPicPr>
          <p:cNvPr id="10" name="Image 5" descr="/home/claude/ppt2/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1874520"/>
            <a:ext cx="182880" cy="18288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6858000" y="1764792"/>
            <a:ext cx="4681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multiple objects within a single image</a:t>
            </a:r>
            <a:endParaRPr lang="en-US" sz="1250" dirty="0"/>
          </a:p>
        </p:txBody>
      </p:sp>
      <p:pic>
        <p:nvPicPr>
          <p:cNvPr id="12" name="Image 6" descr="/home/claude/ppt2/circle_fla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2441448"/>
            <a:ext cx="365760" cy="365760"/>
          </a:xfrm>
          <a:prstGeom prst="rect">
            <a:avLst/>
          </a:prstGeom>
        </p:spPr>
      </p:pic>
      <p:pic>
        <p:nvPicPr>
          <p:cNvPr id="13" name="Image 7" descr="/home/claude/ppt2/icon_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2532888"/>
            <a:ext cx="182880" cy="18288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1051560" y="2423160"/>
            <a:ext cx="4681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bounding boxes around detected objects</a:t>
            </a:r>
            <a:endParaRPr lang="en-US" sz="1250" dirty="0"/>
          </a:p>
        </p:txBody>
      </p:sp>
      <p:pic>
        <p:nvPicPr>
          <p:cNvPr id="15" name="Image 8" descr="/home/claude/ppt2/circle_fla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5080" y="2441448"/>
            <a:ext cx="365760" cy="365760"/>
          </a:xfrm>
          <a:prstGeom prst="rect">
            <a:avLst/>
          </a:prstGeom>
        </p:spPr>
      </p:pic>
      <p:pic>
        <p:nvPicPr>
          <p:cNvPr id="16" name="Image 9" descr="/home/claude/ppt2/icon_che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6520" y="2532888"/>
            <a:ext cx="182880" cy="182880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6858000" y="2423160"/>
            <a:ext cx="4681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confidence scores for every detection</a:t>
            </a:r>
            <a:endParaRPr lang="en-US" sz="1250" dirty="0"/>
          </a:p>
        </p:txBody>
      </p:sp>
      <p:pic>
        <p:nvPicPr>
          <p:cNvPr id="18" name="Image 10" descr="/home/claude/ppt2/circle_fla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3099816"/>
            <a:ext cx="365760" cy="365760"/>
          </a:xfrm>
          <a:prstGeom prst="rect">
            <a:avLst/>
          </a:prstGeom>
        </p:spPr>
      </p:pic>
      <p:pic>
        <p:nvPicPr>
          <p:cNvPr id="19" name="Image 11" descr="/home/claude/ppt2/icon_che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" y="3191256"/>
            <a:ext cx="182880" cy="182880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1051560" y="3081528"/>
            <a:ext cx="4681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inspection effort</a:t>
            </a:r>
            <a:endParaRPr lang="en-US" sz="1250" dirty="0"/>
          </a:p>
        </p:txBody>
      </p:sp>
      <p:pic>
        <p:nvPicPr>
          <p:cNvPr id="21" name="Image 12" descr="/home/claude/ppt2/circle_fla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5080" y="3099816"/>
            <a:ext cx="365760" cy="365760"/>
          </a:xfrm>
          <a:prstGeom prst="rect">
            <a:avLst/>
          </a:prstGeom>
        </p:spPr>
      </p:pic>
      <p:pic>
        <p:nvPicPr>
          <p:cNvPr id="22" name="Image 13" descr="/home/claude/ppt2/icon_check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6520" y="3191256"/>
            <a:ext cx="182880" cy="182880"/>
          </a:xfrm>
          <a:prstGeom prst="rect">
            <a:avLst/>
          </a:prstGeom>
        </p:spPr>
      </p:pic>
      <p:sp>
        <p:nvSpPr>
          <p:cNvPr id="23" name="Text 7"/>
          <p:cNvSpPr/>
          <p:nvPr/>
        </p:nvSpPr>
        <p:spPr>
          <a:xfrm>
            <a:off x="6858000" y="3081528"/>
            <a:ext cx="4681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rapid, automated detection</a:t>
            </a:r>
            <a:endParaRPr lang="en-US" sz="1250" dirty="0"/>
          </a:p>
        </p:txBody>
      </p:sp>
      <p:pic>
        <p:nvPicPr>
          <p:cNvPr id="24" name="Image 14" descr="/home/claude/ppt2/circle_flat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8640" y="3758184"/>
            <a:ext cx="365760" cy="365760"/>
          </a:xfrm>
          <a:prstGeom prst="rect">
            <a:avLst/>
          </a:prstGeom>
        </p:spPr>
      </p:pic>
      <p:pic>
        <p:nvPicPr>
          <p:cNvPr id="25" name="Image 15" descr="/home/claude/ppt2/icon_check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" y="3849624"/>
            <a:ext cx="182880" cy="182880"/>
          </a:xfrm>
          <a:prstGeom prst="rect">
            <a:avLst/>
          </a:prstGeom>
        </p:spPr>
      </p:pic>
      <p:sp>
        <p:nvSpPr>
          <p:cNvPr id="26" name="Text 8"/>
          <p:cNvSpPr/>
          <p:nvPr/>
        </p:nvSpPr>
        <p:spPr>
          <a:xfrm>
            <a:off x="1051560" y="3739896"/>
            <a:ext cx="4681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web-based image detection</a:t>
            </a:r>
            <a:endParaRPr lang="en-US" sz="1250" dirty="0"/>
          </a:p>
        </p:txBody>
      </p:sp>
      <p:pic>
        <p:nvPicPr>
          <p:cNvPr id="27" name="Image 16" descr="/home/claude/ppt2/circle_flat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55080" y="3758184"/>
            <a:ext cx="365760" cy="365760"/>
          </a:xfrm>
          <a:prstGeom prst="rect">
            <a:avLst/>
          </a:prstGeom>
        </p:spPr>
      </p:pic>
      <p:pic>
        <p:nvPicPr>
          <p:cNvPr id="28" name="Image 17" descr="/home/claude/ppt2/icon_check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46520" y="3849624"/>
            <a:ext cx="182880" cy="182880"/>
          </a:xfrm>
          <a:prstGeom prst="rect">
            <a:avLst/>
          </a:prstGeom>
        </p:spPr>
      </p:pic>
      <p:sp>
        <p:nvSpPr>
          <p:cNvPr id="29" name="Text 9"/>
          <p:cNvSpPr/>
          <p:nvPr/>
        </p:nvSpPr>
        <p:spPr>
          <a:xfrm>
            <a:off x="6858000" y="3739896"/>
            <a:ext cx="4681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foundation for real-time industrial monitoring</a:t>
            </a:r>
            <a:endParaRPr lang="en-US" sz="1250" dirty="0"/>
          </a:p>
        </p:txBody>
      </p:sp>
      <p:sp>
        <p:nvSpPr>
          <p:cNvPr id="30" name="Shape 10"/>
          <p:cNvSpPr/>
          <p:nvPr/>
        </p:nvSpPr>
        <p:spPr>
          <a:xfrm>
            <a:off x="548640" y="539496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31" name="Image 18" descr="/home/claude/ppt2/bar_gra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8368" y="5390388"/>
            <a:ext cx="10881360" cy="41148"/>
          </a:xfrm>
          <a:prstGeom prst="rect">
            <a:avLst/>
          </a:prstGeom>
        </p:spPr>
      </p:pic>
      <p:sp>
        <p:nvSpPr>
          <p:cNvPr id="32" name="Text 11"/>
          <p:cNvSpPr/>
          <p:nvPr/>
        </p:nvSpPr>
        <p:spPr>
          <a:xfrm>
            <a:off x="548640" y="5468112"/>
            <a:ext cx="22183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98.45%</a:t>
            </a:r>
            <a:endParaRPr lang="en-US" sz="2000" dirty="0"/>
          </a:p>
        </p:txBody>
      </p:sp>
      <p:sp>
        <p:nvSpPr>
          <p:cNvPr id="33" name="Text 12"/>
          <p:cNvSpPr/>
          <p:nvPr/>
        </p:nvSpPr>
        <p:spPr>
          <a:xfrm>
            <a:off x="548640" y="5925312"/>
            <a:ext cx="22183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50" dirty="0"/>
          </a:p>
        </p:txBody>
      </p:sp>
      <p:sp>
        <p:nvSpPr>
          <p:cNvPr id="34" name="Text 13"/>
          <p:cNvSpPr/>
          <p:nvPr/>
        </p:nvSpPr>
        <p:spPr>
          <a:xfrm>
            <a:off x="2766974" y="5468112"/>
            <a:ext cx="22183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97.13%</a:t>
            </a:r>
            <a:endParaRPr lang="en-US" sz="2000" dirty="0"/>
          </a:p>
        </p:txBody>
      </p:sp>
      <p:sp>
        <p:nvSpPr>
          <p:cNvPr id="35" name="Text 14"/>
          <p:cNvSpPr/>
          <p:nvPr/>
        </p:nvSpPr>
        <p:spPr>
          <a:xfrm>
            <a:off x="2766974" y="5925312"/>
            <a:ext cx="22183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50" dirty="0"/>
          </a:p>
        </p:txBody>
      </p:sp>
      <p:sp>
        <p:nvSpPr>
          <p:cNvPr id="36" name="Text 15"/>
          <p:cNvSpPr/>
          <p:nvPr/>
        </p:nvSpPr>
        <p:spPr>
          <a:xfrm>
            <a:off x="4985309" y="5468112"/>
            <a:ext cx="22183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97.78%</a:t>
            </a:r>
            <a:endParaRPr lang="en-US" sz="2000" dirty="0"/>
          </a:p>
        </p:txBody>
      </p:sp>
      <p:sp>
        <p:nvSpPr>
          <p:cNvPr id="37" name="Text 16"/>
          <p:cNvSpPr/>
          <p:nvPr/>
        </p:nvSpPr>
        <p:spPr>
          <a:xfrm>
            <a:off x="4985309" y="5925312"/>
            <a:ext cx="22183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50" dirty="0"/>
          </a:p>
        </p:txBody>
      </p:sp>
      <p:sp>
        <p:nvSpPr>
          <p:cNvPr id="38" name="Text 17"/>
          <p:cNvSpPr/>
          <p:nvPr/>
        </p:nvSpPr>
        <p:spPr>
          <a:xfrm>
            <a:off x="7203643" y="5468112"/>
            <a:ext cx="22183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99.17%</a:t>
            </a:r>
            <a:endParaRPr lang="en-US" sz="2000" dirty="0"/>
          </a:p>
        </p:txBody>
      </p:sp>
      <p:sp>
        <p:nvSpPr>
          <p:cNvPr id="39" name="Text 18"/>
          <p:cNvSpPr/>
          <p:nvPr/>
        </p:nvSpPr>
        <p:spPr>
          <a:xfrm>
            <a:off x="7203643" y="5925312"/>
            <a:ext cx="22183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</a:t>
            </a:r>
            <a:endParaRPr lang="en-US" sz="950" dirty="0"/>
          </a:p>
        </p:txBody>
      </p:sp>
      <p:sp>
        <p:nvSpPr>
          <p:cNvPr id="40" name="Text 19"/>
          <p:cNvSpPr/>
          <p:nvPr/>
        </p:nvSpPr>
        <p:spPr>
          <a:xfrm>
            <a:off x="9421978" y="5468112"/>
            <a:ext cx="22183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94.67%</a:t>
            </a:r>
            <a:endParaRPr lang="en-US" sz="2000" dirty="0"/>
          </a:p>
        </p:txBody>
      </p:sp>
      <p:sp>
        <p:nvSpPr>
          <p:cNvPr id="41" name="Text 20"/>
          <p:cNvSpPr/>
          <p:nvPr/>
        </p:nvSpPr>
        <p:spPr>
          <a:xfrm>
            <a:off x="9421978" y="5925312"/>
            <a:ext cx="22183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MAP@50-95</a:t>
            </a:r>
            <a:endParaRPr lang="en-US" sz="950" dirty="0"/>
          </a:p>
        </p:txBody>
      </p:sp>
      <p:sp>
        <p:nvSpPr>
          <p:cNvPr id="42" name="Text 21"/>
          <p:cNvSpPr/>
          <p:nvPr/>
        </p:nvSpPr>
        <p:spPr>
          <a:xfrm>
            <a:off x="111099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9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2/glow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560320" y="-2560320"/>
            <a:ext cx="5120640" cy="5120640"/>
          </a:xfrm>
          <a:prstGeom prst="rect">
            <a:avLst/>
          </a:prstGeom>
        </p:spPr>
      </p:pic>
      <p:pic>
        <p:nvPicPr>
          <p:cNvPr id="3" name="Image 1" descr="/home/claude/ppt2/glow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023360"/>
            <a:ext cx="5120640" cy="5120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FUTURE ENHANCEMENTS &amp; CONCLUSION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toward a smart waste-management platform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737360"/>
            <a:ext cx="3575304" cy="1298448"/>
          </a:xfrm>
          <a:prstGeom prst="roundRect">
            <a:avLst>
              <a:gd name="adj" fmla="val 493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7" name="Image 2" descr="/home/claude/ppt2/circle_fl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883664"/>
            <a:ext cx="402336" cy="402336"/>
          </a:xfrm>
          <a:prstGeom prst="rect">
            <a:avLst/>
          </a:prstGeom>
        </p:spPr>
      </p:pic>
      <p:pic>
        <p:nvPicPr>
          <p:cNvPr id="8" name="Image 3" descr="/home/claude/ppt2/icon_ta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1984248"/>
            <a:ext cx="201168" cy="20116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207008" y="1865376"/>
            <a:ext cx="27523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Waste Categories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694944" y="2395728"/>
            <a:ext cx="32826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9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Batteries, chemical containers, e-waste, oil containers, pressurized tanks</a:t>
            </a:r>
            <a:endParaRPr lang="en-US" sz="890" dirty="0"/>
          </a:p>
        </p:txBody>
      </p:sp>
      <p:sp>
        <p:nvSpPr>
          <p:cNvPr id="11" name="Shape 5"/>
          <p:cNvSpPr/>
          <p:nvPr/>
        </p:nvSpPr>
        <p:spPr>
          <a:xfrm>
            <a:off x="4306824" y="1737360"/>
            <a:ext cx="3575304" cy="1298448"/>
          </a:xfrm>
          <a:prstGeom prst="roundRect">
            <a:avLst>
              <a:gd name="adj" fmla="val 493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12" name="Image 4" descr="/home/claude/ppt2/circle_fla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28" y="1883664"/>
            <a:ext cx="402336" cy="402336"/>
          </a:xfrm>
          <a:prstGeom prst="rect">
            <a:avLst/>
          </a:prstGeom>
        </p:spPr>
      </p:pic>
      <p:pic>
        <p:nvPicPr>
          <p:cNvPr id="13" name="Image 5" descr="/home/claude/ppt2/icon_vide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3712" y="1984248"/>
            <a:ext cx="201168" cy="20116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965192" y="1865376"/>
            <a:ext cx="27523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Conveyor Detection</a:t>
            </a:r>
            <a:endParaRPr lang="en-US" sz="1100" dirty="0"/>
          </a:p>
        </p:txBody>
      </p:sp>
      <p:sp>
        <p:nvSpPr>
          <p:cNvPr id="15" name="Text 7"/>
          <p:cNvSpPr/>
          <p:nvPr/>
        </p:nvSpPr>
        <p:spPr>
          <a:xfrm>
            <a:off x="4453128" y="2395728"/>
            <a:ext cx="32826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9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cameras continuously monitoring belts</a:t>
            </a:r>
            <a:endParaRPr lang="en-US" sz="890" dirty="0"/>
          </a:p>
        </p:txBody>
      </p:sp>
      <p:sp>
        <p:nvSpPr>
          <p:cNvPr id="16" name="Shape 8"/>
          <p:cNvSpPr/>
          <p:nvPr/>
        </p:nvSpPr>
        <p:spPr>
          <a:xfrm>
            <a:off x="8065008" y="1737360"/>
            <a:ext cx="3575304" cy="1298448"/>
          </a:xfrm>
          <a:prstGeom prst="roundRect">
            <a:avLst>
              <a:gd name="adj" fmla="val 493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17" name="Image 6" descr="/home/claude/ppt2/circle_fla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1312" y="1883664"/>
            <a:ext cx="402336" cy="402336"/>
          </a:xfrm>
          <a:prstGeom prst="rect">
            <a:avLst/>
          </a:prstGeom>
        </p:spPr>
      </p:pic>
      <p:pic>
        <p:nvPicPr>
          <p:cNvPr id="18" name="Image 7" descr="/home/claude/ppt2/icon_sitema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1896" y="1984248"/>
            <a:ext cx="201168" cy="20116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8723376" y="1865376"/>
            <a:ext cx="27523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Sorting</a:t>
            </a:r>
            <a:endParaRPr lang="en-US" sz="1100" dirty="0"/>
          </a:p>
        </p:txBody>
      </p:sp>
      <p:sp>
        <p:nvSpPr>
          <p:cNvPr id="20" name="Text 10"/>
          <p:cNvSpPr/>
          <p:nvPr/>
        </p:nvSpPr>
        <p:spPr>
          <a:xfrm>
            <a:off x="8211312" y="2395728"/>
            <a:ext cx="32826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9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arms driven by detection results</a:t>
            </a:r>
            <a:endParaRPr lang="en-US" sz="890" dirty="0"/>
          </a:p>
        </p:txBody>
      </p:sp>
      <p:sp>
        <p:nvSpPr>
          <p:cNvPr id="21" name="Shape 11"/>
          <p:cNvSpPr/>
          <p:nvPr/>
        </p:nvSpPr>
        <p:spPr>
          <a:xfrm>
            <a:off x="548640" y="3172968"/>
            <a:ext cx="3575304" cy="1298448"/>
          </a:xfrm>
          <a:prstGeom prst="roundRect">
            <a:avLst>
              <a:gd name="adj" fmla="val 493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22" name="Image 8" descr="/home/claude/ppt2/circle_fla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" y="3319272"/>
            <a:ext cx="402336" cy="402336"/>
          </a:xfrm>
          <a:prstGeom prst="rect">
            <a:avLst/>
          </a:prstGeom>
        </p:spPr>
      </p:pic>
      <p:pic>
        <p:nvPicPr>
          <p:cNvPr id="23" name="Image 9" descr="/home/claude/ppt2/icon_bol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528" y="3419856"/>
            <a:ext cx="201168" cy="201168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1207008" y="3300984"/>
            <a:ext cx="27523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&amp; Notifications</a:t>
            </a:r>
            <a:endParaRPr lang="en-US" sz="1100" dirty="0"/>
          </a:p>
        </p:txBody>
      </p:sp>
      <p:sp>
        <p:nvSpPr>
          <p:cNvPr id="25" name="Text 13"/>
          <p:cNvSpPr/>
          <p:nvPr/>
        </p:nvSpPr>
        <p:spPr>
          <a:xfrm>
            <a:off x="694944" y="3831336"/>
            <a:ext cx="32826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9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alerts on hazardous detections</a:t>
            </a:r>
            <a:endParaRPr lang="en-US" sz="890" dirty="0"/>
          </a:p>
        </p:txBody>
      </p:sp>
      <p:sp>
        <p:nvSpPr>
          <p:cNvPr id="26" name="Shape 14"/>
          <p:cNvSpPr/>
          <p:nvPr/>
        </p:nvSpPr>
        <p:spPr>
          <a:xfrm>
            <a:off x="4306824" y="3172968"/>
            <a:ext cx="3575304" cy="1298448"/>
          </a:xfrm>
          <a:prstGeom prst="roundRect">
            <a:avLst>
              <a:gd name="adj" fmla="val 493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27" name="Image 10" descr="/home/claude/ppt2/circle_fla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3128" y="3319272"/>
            <a:ext cx="402336" cy="402336"/>
          </a:xfrm>
          <a:prstGeom prst="rect">
            <a:avLst/>
          </a:prstGeom>
        </p:spPr>
      </p:pic>
      <p:pic>
        <p:nvPicPr>
          <p:cNvPr id="28" name="Image 11" descr="/home/claude/ppt2/icon_chip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53712" y="3419856"/>
            <a:ext cx="201168" cy="201168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4965192" y="3300984"/>
            <a:ext cx="27523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AI Deployment</a:t>
            </a:r>
            <a:endParaRPr lang="en-US" sz="1100" dirty="0"/>
          </a:p>
        </p:txBody>
      </p:sp>
      <p:sp>
        <p:nvSpPr>
          <p:cNvPr id="30" name="Text 16"/>
          <p:cNvSpPr/>
          <p:nvPr/>
        </p:nvSpPr>
        <p:spPr>
          <a:xfrm>
            <a:off x="4453128" y="3831336"/>
            <a:ext cx="32826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9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 (e.g. NVIDIA Jetson)</a:t>
            </a:r>
            <a:endParaRPr lang="en-US" sz="890" dirty="0"/>
          </a:p>
        </p:txBody>
      </p:sp>
      <p:sp>
        <p:nvSpPr>
          <p:cNvPr id="31" name="Shape 17"/>
          <p:cNvSpPr/>
          <p:nvPr/>
        </p:nvSpPr>
        <p:spPr>
          <a:xfrm>
            <a:off x="8065008" y="3172968"/>
            <a:ext cx="3575304" cy="1298448"/>
          </a:xfrm>
          <a:prstGeom prst="roundRect">
            <a:avLst>
              <a:gd name="adj" fmla="val 4930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32" name="Image 12" descr="/home/claude/ppt2/circle_fla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1312" y="3319272"/>
            <a:ext cx="402336" cy="402336"/>
          </a:xfrm>
          <a:prstGeom prst="rect">
            <a:avLst/>
          </a:prstGeom>
        </p:spPr>
      </p:pic>
      <p:pic>
        <p:nvPicPr>
          <p:cNvPr id="33" name="Image 13" descr="/home/claude/ppt2/icon_databas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11896" y="3419856"/>
            <a:ext cx="201168" cy="201168"/>
          </a:xfrm>
          <a:prstGeom prst="rect">
            <a:avLst/>
          </a:prstGeom>
        </p:spPr>
      </p:pic>
      <p:sp>
        <p:nvSpPr>
          <p:cNvPr id="34" name="Text 18"/>
          <p:cNvSpPr/>
          <p:nvPr/>
        </p:nvSpPr>
        <p:spPr>
          <a:xfrm>
            <a:off x="8723376" y="3300984"/>
            <a:ext cx="27523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Larger, Diverse Dataset</a:t>
            </a:r>
            <a:endParaRPr lang="en-US" sz="1100" dirty="0"/>
          </a:p>
        </p:txBody>
      </p:sp>
      <p:sp>
        <p:nvSpPr>
          <p:cNvPr id="35" name="Text 19"/>
          <p:cNvSpPr/>
          <p:nvPr/>
        </p:nvSpPr>
        <p:spPr>
          <a:xfrm>
            <a:off x="8211312" y="3831336"/>
            <a:ext cx="32826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9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lighting, angles, occlusion, real environments</a:t>
            </a:r>
            <a:endParaRPr lang="en-US" sz="890" dirty="0"/>
          </a:p>
        </p:txBody>
      </p:sp>
      <p:sp>
        <p:nvSpPr>
          <p:cNvPr id="36" name="Shape 20"/>
          <p:cNvSpPr/>
          <p:nvPr/>
        </p:nvSpPr>
        <p:spPr>
          <a:xfrm>
            <a:off x="548640" y="461772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111827"/>
          </a:solidFill>
          <a:ln w="12700">
            <a:solidFill>
              <a:srgbClr val="22304A"/>
            </a:solidFill>
            <a:prstDash val="solid"/>
          </a:ln>
        </p:spPr>
      </p:sp>
      <p:pic>
        <p:nvPicPr>
          <p:cNvPr id="37" name="Image 14" descr="/home/claude/ppt2/bar_gra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6656" y="4613148"/>
            <a:ext cx="10835640" cy="41148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822960" y="47365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9" name="Text 22"/>
          <p:cNvSpPr/>
          <p:nvPr/>
        </p:nvSpPr>
        <p:spPr>
          <a:xfrm>
            <a:off x="822960" y="5010912"/>
            <a:ext cx="10424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~205 raw images to a 98.45%-precision YOLOv8s model, this project delivers a deployed, real-time hazardous-waste detection system — and a foundation for automated industrial sorting and edge-AI deployment.</a:t>
            </a:r>
            <a:endParaRPr lang="en-US" sz="1080" dirty="0"/>
          </a:p>
        </p:txBody>
      </p:sp>
      <p:pic>
        <p:nvPicPr>
          <p:cNvPr id="40" name="Image 15" descr="/home/claude/ppt2/button_gra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8640" y="5715000"/>
            <a:ext cx="11091672" cy="658368"/>
          </a:xfrm>
          <a:prstGeom prst="rect">
            <a:avLst/>
          </a:prstGeom>
        </p:spPr>
      </p:pic>
      <p:sp>
        <p:nvSpPr>
          <p:cNvPr id="41" name="Text 23"/>
          <p:cNvSpPr/>
          <p:nvPr/>
        </p:nvSpPr>
        <p:spPr>
          <a:xfrm>
            <a:off x="868680" y="57150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</a:t>
            </a:r>
            <a:endParaRPr lang="en-US" sz="1050" dirty="0"/>
          </a:p>
        </p:txBody>
      </p:sp>
      <p:sp>
        <p:nvSpPr>
          <p:cNvPr id="42" name="Text 24"/>
          <p:cNvSpPr/>
          <p:nvPr/>
        </p:nvSpPr>
        <p:spPr>
          <a:xfrm>
            <a:off x="3200400" y="57150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hazardous-object-detection.onrender.com</a:t>
            </a:r>
            <a:endParaRPr lang="en-US" sz="1400" dirty="0"/>
          </a:p>
        </p:txBody>
      </p:sp>
      <p:sp>
        <p:nvSpPr>
          <p:cNvPr id="43" name="Text 25"/>
          <p:cNvSpPr/>
          <p:nvPr/>
        </p:nvSpPr>
        <p:spPr>
          <a:xfrm>
            <a:off x="1110996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2026-08-29T04:31:20Z</dcterms:created>
  <dcterms:modified xsi:type="dcterms:W3CDTF">2026-08-29T04:31:20Z</dcterms:modified>
</cp:coreProperties>
</file>